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17" roundtripDataSignature="AMtx7milKaFQqidMhq6drL+9uaDH/izY0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849A7E7-335D-4DC3-AB32-7E6188E110B4}">
  <a:tblStyle styleId="{0849A7E7-335D-4DC3-AB32-7E6188E110B4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customschemas.google.com/relationships/presentationmetadata" Target="metadata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f943fda256_0_14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" name="Google Shape;79;g3f943fda256_0_14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0" name="Google Shape;80;g3f943fda256_0_14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f943fda256_0_2597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" name="Google Shape;100;g3f943fda256_0_259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1" name="Google Shape;101;g3f943fda256_0_259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f943fda256_0_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" name="Google Shape;128;g3f943fda256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9" name="Google Shape;129;g3f943fda256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f943fda256_0_316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9" name="Google Shape;139;g3f943fda256_0_316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0" name="Google Shape;140;g3f943fda256_0_316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f943fda256_0_1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7" name="Google Shape;207;g3f943fda256_0_1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8" name="Google Shape;208;g3f943fda256_0_1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f943fda256_0_2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4" name="Google Shape;224;g3f943fda256_0_2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5" name="Google Shape;225;g3f943fda256_0_2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f943fda256_0_28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1" name="Google Shape;261;g3f943fda256_0_2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2" name="Google Shape;262;g3f943fda256_0_2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f943fda256_0_35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3" name="Google Shape;293;g3f943fda256_0_3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4" name="Google Shape;294;g3f943fda256_0_3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3f943fda256_0_4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0" name="Google Shape;340;g3f943fda256_0_4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1" name="Google Shape;341;g3f943fda256_0_4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3f943fda256_0_49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8" name="Google Shape;358;g3f943fda256_0_4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9" name="Google Shape;359;g3f943fda256_0_4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g3f943fda256_0_2145"/>
          <p:cNvSpPr txBox="1"/>
          <p:nvPr>
            <p:ph type="ctrTitle"/>
          </p:nvPr>
        </p:nvSpPr>
        <p:spPr>
          <a:xfrm>
            <a:off x="685800" y="2130425"/>
            <a:ext cx="7772400" cy="14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g3f943fda256_0_2145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g3f943fda256_0_2145"/>
          <p:cNvSpPr txBox="1"/>
          <p:nvPr>
            <p:ph idx="10" type="dt"/>
          </p:nvPr>
        </p:nvSpPr>
        <p:spPr>
          <a:xfrm>
            <a:off x="457200" y="6381396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g3f943fda256_0_2145"/>
          <p:cNvSpPr txBox="1"/>
          <p:nvPr>
            <p:ph idx="11" type="ftr"/>
          </p:nvPr>
        </p:nvSpPr>
        <p:spPr>
          <a:xfrm>
            <a:off x="3122488" y="6373546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g3f943fda256_0_2145"/>
          <p:cNvSpPr txBox="1"/>
          <p:nvPr>
            <p:ph idx="12" type="sldNum"/>
          </p:nvPr>
        </p:nvSpPr>
        <p:spPr>
          <a:xfrm>
            <a:off x="6553200" y="6373546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g3f943fda256_0_2151"/>
          <p:cNvSpPr txBox="1"/>
          <p:nvPr>
            <p:ph type="title"/>
          </p:nvPr>
        </p:nvSpPr>
        <p:spPr>
          <a:xfrm>
            <a:off x="457200" y="12954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g3f943fda256_0_2151"/>
          <p:cNvSpPr txBox="1"/>
          <p:nvPr>
            <p:ph idx="1" type="body"/>
          </p:nvPr>
        </p:nvSpPr>
        <p:spPr>
          <a:xfrm>
            <a:off x="457200" y="2286000"/>
            <a:ext cx="8229600" cy="40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❑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g3f943fda256_0_2151"/>
          <p:cNvSpPr txBox="1"/>
          <p:nvPr>
            <p:ph idx="10" type="dt"/>
          </p:nvPr>
        </p:nvSpPr>
        <p:spPr>
          <a:xfrm>
            <a:off x="457200" y="6381396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g3f943fda256_0_2151"/>
          <p:cNvSpPr txBox="1"/>
          <p:nvPr>
            <p:ph idx="11" type="ftr"/>
          </p:nvPr>
        </p:nvSpPr>
        <p:spPr>
          <a:xfrm>
            <a:off x="3122488" y="6373546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g3f943fda256_0_2151"/>
          <p:cNvSpPr txBox="1"/>
          <p:nvPr>
            <p:ph idx="12" type="sldNum"/>
          </p:nvPr>
        </p:nvSpPr>
        <p:spPr>
          <a:xfrm>
            <a:off x="6553200" y="6373546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g3f943fda256_0_2157"/>
          <p:cNvSpPr txBox="1"/>
          <p:nvPr>
            <p:ph type="title"/>
          </p:nvPr>
        </p:nvSpPr>
        <p:spPr>
          <a:xfrm>
            <a:off x="722313" y="4406900"/>
            <a:ext cx="7772400" cy="13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g3f943fda256_0_2157"/>
          <p:cNvSpPr txBox="1"/>
          <p:nvPr>
            <p:ph idx="1" type="body"/>
          </p:nvPr>
        </p:nvSpPr>
        <p:spPr>
          <a:xfrm>
            <a:off x="722313" y="2906713"/>
            <a:ext cx="7772400" cy="15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g3f943fda256_0_2157"/>
          <p:cNvSpPr txBox="1"/>
          <p:nvPr>
            <p:ph idx="10" type="dt"/>
          </p:nvPr>
        </p:nvSpPr>
        <p:spPr>
          <a:xfrm>
            <a:off x="457200" y="6381396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g3f943fda256_0_2157"/>
          <p:cNvSpPr txBox="1"/>
          <p:nvPr>
            <p:ph idx="11" type="ftr"/>
          </p:nvPr>
        </p:nvSpPr>
        <p:spPr>
          <a:xfrm>
            <a:off x="3122488" y="6373546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g3f943fda256_0_2157"/>
          <p:cNvSpPr txBox="1"/>
          <p:nvPr>
            <p:ph idx="12" type="sldNum"/>
          </p:nvPr>
        </p:nvSpPr>
        <p:spPr>
          <a:xfrm>
            <a:off x="6553200" y="6373546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g3f943fda256_0_2163"/>
          <p:cNvSpPr txBox="1"/>
          <p:nvPr>
            <p:ph type="title"/>
          </p:nvPr>
        </p:nvSpPr>
        <p:spPr>
          <a:xfrm>
            <a:off x="457200" y="12954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g3f943fda256_0_2163"/>
          <p:cNvSpPr txBox="1"/>
          <p:nvPr>
            <p:ph idx="1" type="body"/>
          </p:nvPr>
        </p:nvSpPr>
        <p:spPr>
          <a:xfrm>
            <a:off x="457200" y="1600200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❑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▪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▪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g3f943fda256_0_2163"/>
          <p:cNvSpPr txBox="1"/>
          <p:nvPr>
            <p:ph idx="2" type="body"/>
          </p:nvPr>
        </p:nvSpPr>
        <p:spPr>
          <a:xfrm>
            <a:off x="4648200" y="1600200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❑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▪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▪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g3f943fda256_0_2163"/>
          <p:cNvSpPr txBox="1"/>
          <p:nvPr>
            <p:ph idx="10" type="dt"/>
          </p:nvPr>
        </p:nvSpPr>
        <p:spPr>
          <a:xfrm>
            <a:off x="457200" y="6381396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g3f943fda256_0_2163"/>
          <p:cNvSpPr txBox="1"/>
          <p:nvPr>
            <p:ph idx="11" type="ftr"/>
          </p:nvPr>
        </p:nvSpPr>
        <p:spPr>
          <a:xfrm>
            <a:off x="3122488" y="6373546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g3f943fda256_0_2163"/>
          <p:cNvSpPr txBox="1"/>
          <p:nvPr>
            <p:ph idx="12" type="sldNum"/>
          </p:nvPr>
        </p:nvSpPr>
        <p:spPr>
          <a:xfrm>
            <a:off x="6553200" y="6373546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g3f943fda256_0_2170"/>
          <p:cNvSpPr txBox="1"/>
          <p:nvPr>
            <p:ph type="title"/>
          </p:nvPr>
        </p:nvSpPr>
        <p:spPr>
          <a:xfrm>
            <a:off x="457200" y="12954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g3f943fda256_0_2170"/>
          <p:cNvSpPr txBox="1"/>
          <p:nvPr>
            <p:ph idx="1" type="body"/>
          </p:nvPr>
        </p:nvSpPr>
        <p:spPr>
          <a:xfrm>
            <a:off x="457200" y="1535113"/>
            <a:ext cx="40401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g3f943fda256_0_2170"/>
          <p:cNvSpPr txBox="1"/>
          <p:nvPr>
            <p:ph idx="2" type="body"/>
          </p:nvPr>
        </p:nvSpPr>
        <p:spPr>
          <a:xfrm>
            <a:off x="457200" y="2174875"/>
            <a:ext cx="4040100" cy="39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❑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▪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▪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▪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g3f943fda256_0_2170"/>
          <p:cNvSpPr txBox="1"/>
          <p:nvPr>
            <p:ph idx="3" type="body"/>
          </p:nvPr>
        </p:nvSpPr>
        <p:spPr>
          <a:xfrm>
            <a:off x="4645025" y="1535113"/>
            <a:ext cx="40419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g3f943fda256_0_2170"/>
          <p:cNvSpPr txBox="1"/>
          <p:nvPr>
            <p:ph idx="4" type="body"/>
          </p:nvPr>
        </p:nvSpPr>
        <p:spPr>
          <a:xfrm>
            <a:off x="4645025" y="2174875"/>
            <a:ext cx="4041900" cy="39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❑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▪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▪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▪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g3f943fda256_0_2170"/>
          <p:cNvSpPr txBox="1"/>
          <p:nvPr>
            <p:ph idx="10" type="dt"/>
          </p:nvPr>
        </p:nvSpPr>
        <p:spPr>
          <a:xfrm>
            <a:off x="457200" y="6381396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g3f943fda256_0_2170"/>
          <p:cNvSpPr txBox="1"/>
          <p:nvPr>
            <p:ph idx="11" type="ftr"/>
          </p:nvPr>
        </p:nvSpPr>
        <p:spPr>
          <a:xfrm>
            <a:off x="3122488" y="6373546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g3f943fda256_0_2170"/>
          <p:cNvSpPr txBox="1"/>
          <p:nvPr>
            <p:ph idx="12" type="sldNum"/>
          </p:nvPr>
        </p:nvSpPr>
        <p:spPr>
          <a:xfrm>
            <a:off x="6553200" y="6373546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g3f943fda256_0_2179"/>
          <p:cNvSpPr txBox="1"/>
          <p:nvPr>
            <p:ph type="title"/>
          </p:nvPr>
        </p:nvSpPr>
        <p:spPr>
          <a:xfrm>
            <a:off x="457200" y="12954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g3f943fda256_0_2179"/>
          <p:cNvSpPr txBox="1"/>
          <p:nvPr>
            <p:ph idx="10" type="dt"/>
          </p:nvPr>
        </p:nvSpPr>
        <p:spPr>
          <a:xfrm>
            <a:off x="457200" y="6381396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g3f943fda256_0_2179"/>
          <p:cNvSpPr txBox="1"/>
          <p:nvPr>
            <p:ph idx="11" type="ftr"/>
          </p:nvPr>
        </p:nvSpPr>
        <p:spPr>
          <a:xfrm>
            <a:off x="3122488" y="6373546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g3f943fda256_0_2179"/>
          <p:cNvSpPr txBox="1"/>
          <p:nvPr>
            <p:ph idx="12" type="sldNum"/>
          </p:nvPr>
        </p:nvSpPr>
        <p:spPr>
          <a:xfrm>
            <a:off x="6553200" y="6373546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f943fda256_0_2184"/>
          <p:cNvSpPr txBox="1"/>
          <p:nvPr>
            <p:ph idx="10" type="dt"/>
          </p:nvPr>
        </p:nvSpPr>
        <p:spPr>
          <a:xfrm>
            <a:off x="457200" y="6381396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g3f943fda256_0_2184"/>
          <p:cNvSpPr txBox="1"/>
          <p:nvPr>
            <p:ph idx="11" type="ftr"/>
          </p:nvPr>
        </p:nvSpPr>
        <p:spPr>
          <a:xfrm>
            <a:off x="3122488" y="6373546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g3f943fda256_0_2184"/>
          <p:cNvSpPr txBox="1"/>
          <p:nvPr>
            <p:ph idx="12" type="sldNum"/>
          </p:nvPr>
        </p:nvSpPr>
        <p:spPr>
          <a:xfrm>
            <a:off x="6553200" y="6373546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f943fda256_0_2188"/>
          <p:cNvSpPr txBox="1"/>
          <p:nvPr>
            <p:ph type="title"/>
          </p:nvPr>
        </p:nvSpPr>
        <p:spPr>
          <a:xfrm>
            <a:off x="1792288" y="4800600"/>
            <a:ext cx="5486400" cy="566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g3f943fda256_0_2188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1" name="Google Shape;61;g3f943fda256_0_2188"/>
          <p:cNvSpPr txBox="1"/>
          <p:nvPr>
            <p:ph idx="1" type="body"/>
          </p:nvPr>
        </p:nvSpPr>
        <p:spPr>
          <a:xfrm>
            <a:off x="1792288" y="5367338"/>
            <a:ext cx="5486400" cy="8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g3f943fda256_0_2188"/>
          <p:cNvSpPr txBox="1"/>
          <p:nvPr>
            <p:ph idx="10" type="dt"/>
          </p:nvPr>
        </p:nvSpPr>
        <p:spPr>
          <a:xfrm>
            <a:off x="457200" y="6381396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g3f943fda256_0_2188"/>
          <p:cNvSpPr txBox="1"/>
          <p:nvPr>
            <p:ph idx="11" type="ftr"/>
          </p:nvPr>
        </p:nvSpPr>
        <p:spPr>
          <a:xfrm>
            <a:off x="3122488" y="6373546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g3f943fda256_0_2188"/>
          <p:cNvSpPr txBox="1"/>
          <p:nvPr>
            <p:ph idx="12" type="sldNum"/>
          </p:nvPr>
        </p:nvSpPr>
        <p:spPr>
          <a:xfrm>
            <a:off x="6553200" y="6373546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f943fda256_0_2195"/>
          <p:cNvSpPr txBox="1"/>
          <p:nvPr>
            <p:ph type="title"/>
          </p:nvPr>
        </p:nvSpPr>
        <p:spPr>
          <a:xfrm>
            <a:off x="457200" y="12954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g3f943fda256_0_2195"/>
          <p:cNvSpPr txBox="1"/>
          <p:nvPr>
            <p:ph idx="1" type="body"/>
          </p:nvPr>
        </p:nvSpPr>
        <p:spPr>
          <a:xfrm rot="5400000">
            <a:off x="2536801" y="206401"/>
            <a:ext cx="4070400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❑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8" name="Google Shape;68;g3f943fda256_0_2195"/>
          <p:cNvSpPr txBox="1"/>
          <p:nvPr>
            <p:ph idx="10" type="dt"/>
          </p:nvPr>
        </p:nvSpPr>
        <p:spPr>
          <a:xfrm>
            <a:off x="457200" y="6381396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g3f943fda256_0_2195"/>
          <p:cNvSpPr txBox="1"/>
          <p:nvPr>
            <p:ph idx="11" type="ftr"/>
          </p:nvPr>
        </p:nvSpPr>
        <p:spPr>
          <a:xfrm>
            <a:off x="3122488" y="6373546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g3f943fda256_0_2195"/>
          <p:cNvSpPr txBox="1"/>
          <p:nvPr>
            <p:ph idx="12" type="sldNum"/>
          </p:nvPr>
        </p:nvSpPr>
        <p:spPr>
          <a:xfrm>
            <a:off x="6553200" y="6373546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f943fda256_0_2201"/>
          <p:cNvSpPr txBox="1"/>
          <p:nvPr>
            <p:ph type="title"/>
          </p:nvPr>
        </p:nvSpPr>
        <p:spPr>
          <a:xfrm rot="5400000">
            <a:off x="4732351" y="2171689"/>
            <a:ext cx="585150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g3f943fda256_0_2201"/>
          <p:cNvSpPr txBox="1"/>
          <p:nvPr>
            <p:ph idx="1" type="body"/>
          </p:nvPr>
        </p:nvSpPr>
        <p:spPr>
          <a:xfrm rot="5400000">
            <a:off x="541350" y="190487"/>
            <a:ext cx="5851500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❑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4" name="Google Shape;74;g3f943fda256_0_2201"/>
          <p:cNvSpPr txBox="1"/>
          <p:nvPr>
            <p:ph idx="10" type="dt"/>
          </p:nvPr>
        </p:nvSpPr>
        <p:spPr>
          <a:xfrm>
            <a:off x="457200" y="6381396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g3f943fda256_0_2201"/>
          <p:cNvSpPr txBox="1"/>
          <p:nvPr>
            <p:ph idx="11" type="ftr"/>
          </p:nvPr>
        </p:nvSpPr>
        <p:spPr>
          <a:xfrm>
            <a:off x="3122488" y="6373546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g3f943fda256_0_2201"/>
          <p:cNvSpPr txBox="1"/>
          <p:nvPr>
            <p:ph idx="12" type="sldNum"/>
          </p:nvPr>
        </p:nvSpPr>
        <p:spPr>
          <a:xfrm>
            <a:off x="6553200" y="6373546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3f943fda256_0_2139"/>
          <p:cNvSpPr txBox="1"/>
          <p:nvPr>
            <p:ph type="title"/>
          </p:nvPr>
        </p:nvSpPr>
        <p:spPr>
          <a:xfrm>
            <a:off x="457200" y="12954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  <a:defRPr b="1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g3f943fda256_0_2139"/>
          <p:cNvSpPr txBox="1"/>
          <p:nvPr>
            <p:ph idx="1" type="body"/>
          </p:nvPr>
        </p:nvSpPr>
        <p:spPr>
          <a:xfrm>
            <a:off x="457200" y="2286000"/>
            <a:ext cx="8229600" cy="40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❑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55600" lvl="1" marL="914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30200" lvl="3" marL="18288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30200" lvl="4" marL="22860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g3f943fda256_0_2139"/>
          <p:cNvSpPr txBox="1"/>
          <p:nvPr>
            <p:ph idx="10" type="dt"/>
          </p:nvPr>
        </p:nvSpPr>
        <p:spPr>
          <a:xfrm>
            <a:off x="457200" y="6381396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g3f943fda256_0_2139"/>
          <p:cNvSpPr txBox="1"/>
          <p:nvPr>
            <p:ph idx="11" type="ftr"/>
          </p:nvPr>
        </p:nvSpPr>
        <p:spPr>
          <a:xfrm>
            <a:off x="3122488" y="6373546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g3f943fda256_0_2139"/>
          <p:cNvSpPr txBox="1"/>
          <p:nvPr>
            <p:ph idx="12" type="sldNum"/>
          </p:nvPr>
        </p:nvSpPr>
        <p:spPr>
          <a:xfrm>
            <a:off x="6553200" y="6373546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7.png"/><Relationship Id="rId6" Type="http://schemas.openxmlformats.org/officeDocument/2006/relationships/image" Target="../media/image1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Relationship Id="rId4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5.png"/><Relationship Id="rId4" Type="http://schemas.openxmlformats.org/officeDocument/2006/relationships/image" Target="../media/image13.png"/><Relationship Id="rId5" Type="http://schemas.openxmlformats.org/officeDocument/2006/relationships/image" Target="../media/image21.png"/><Relationship Id="rId6" Type="http://schemas.openxmlformats.org/officeDocument/2006/relationships/image" Target="../media/image1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8.png"/><Relationship Id="rId4" Type="http://schemas.openxmlformats.org/officeDocument/2006/relationships/image" Target="../media/image26.png"/><Relationship Id="rId5" Type="http://schemas.openxmlformats.org/officeDocument/2006/relationships/image" Target="../media/image2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f943fda256_0_143"/>
          <p:cNvSpPr txBox="1"/>
          <p:nvPr>
            <p:ph type="ctrTitle"/>
          </p:nvPr>
        </p:nvSpPr>
        <p:spPr>
          <a:xfrm>
            <a:off x="685800" y="1619250"/>
            <a:ext cx="7772400" cy="1470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47625" lIns="47625" spcFirstLastPara="1" rIns="47625" wrap="square" tIns="476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TRACEVEIL</a:t>
            </a:r>
            <a:endParaRPr b="1" sz="3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750"/>
              </a:spcBef>
              <a:spcAft>
                <a:spcPts val="0"/>
              </a:spcAft>
              <a:buNone/>
            </a:pPr>
            <a:r>
              <a:rPr b="0" i="1" lang="en-US" sz="1600">
                <a:solidFill>
                  <a:srgbClr val="5555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AI-Assisted Real-Time Smart Home IoT Digital Forensics and Incident Response Platform</a:t>
            </a:r>
            <a:endParaRPr b="0" i="1" sz="1600">
              <a:solidFill>
                <a:srgbClr val="55555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3" name="Google Shape;83;g3f943fda256_0_143"/>
          <p:cNvSpPr txBox="1"/>
          <p:nvPr>
            <p:ph idx="1" type="subTitle"/>
          </p:nvPr>
        </p:nvSpPr>
        <p:spPr>
          <a:xfrm>
            <a:off x="762000" y="3048000"/>
            <a:ext cx="3810000" cy="2667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47625" lIns="47625" spcFirstLastPara="1" rIns="47625" wrap="square" tIns="47625">
            <a:normAutofit lnSpcReduction="10000"/>
          </a:bodyPr>
          <a:lstStyle/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E3A8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Group 18</a:t>
            </a:r>
            <a:endParaRPr b="1" sz="1800">
              <a:solidFill>
                <a:srgbClr val="1E3A8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Ayra Jha — K028</a:t>
            </a:r>
            <a:endParaRPr sz="1500">
              <a:solidFill>
                <a:srgbClr val="33333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Atharva Rangnekar — K053</a:t>
            </a:r>
            <a:endParaRPr b="0" sz="1500">
              <a:solidFill>
                <a:srgbClr val="33333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33333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Aarya Rao — K054</a:t>
            </a:r>
            <a:endParaRPr b="0" sz="1500">
              <a:solidFill>
                <a:srgbClr val="33333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b="0" sz="1500">
              <a:solidFill>
                <a:srgbClr val="33333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E3A8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Faculty Mentor</a:t>
            </a:r>
            <a:endParaRPr b="1" sz="1800">
              <a:solidFill>
                <a:srgbClr val="1E3A8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Prof. Rohit Suryawanshi</a:t>
            </a:r>
            <a:endParaRPr b="0" sz="1500">
              <a:solidFill>
                <a:srgbClr val="33333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4" name="Google Shape;84;g3f943fda256_0_143"/>
          <p:cNvSpPr txBox="1"/>
          <p:nvPr>
            <p:ph idx="12" type="sldNum"/>
          </p:nvPr>
        </p:nvSpPr>
        <p:spPr>
          <a:xfrm>
            <a:off x="6553200" y="6373546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5" name="Google Shape;85;g3f943fda256_0_143"/>
          <p:cNvSpPr txBox="1"/>
          <p:nvPr/>
        </p:nvSpPr>
        <p:spPr>
          <a:xfrm>
            <a:off x="6553200" y="6024880"/>
            <a:ext cx="1818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Date: 20</a:t>
            </a:r>
            <a:r>
              <a:rPr lang="en-US"/>
              <a:t>/7/26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grpSp>
        <p:nvGrpSpPr>
          <p:cNvPr id="86" name="Google Shape;86;g3f943fda256_0_143"/>
          <p:cNvGrpSpPr/>
          <p:nvPr/>
        </p:nvGrpSpPr>
        <p:grpSpPr>
          <a:xfrm>
            <a:off x="4381500" y="3217164"/>
            <a:ext cx="3333750" cy="2069361"/>
            <a:chOff x="4381500" y="3217164"/>
            <a:chExt cx="3333750" cy="2069361"/>
          </a:xfrm>
        </p:grpSpPr>
        <p:pic>
          <p:nvPicPr>
            <p:cNvPr id="87" name="Google Shape;87;g3f943fda256_0_14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329238" y="3371850"/>
              <a:ext cx="1343100" cy="5907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8" name="Google Shape;88;g3f943fda256_0_14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334000" y="3943350"/>
              <a:ext cx="1333500" cy="19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9" name="Google Shape;89;g3f943fda256_0_14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5329238" y="3943350"/>
              <a:ext cx="1343100" cy="590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0" name="Google Shape;90;g3f943fda256_0_143"/>
            <p:cNvSpPr txBox="1"/>
            <p:nvPr/>
          </p:nvSpPr>
          <p:spPr>
            <a:xfrm>
              <a:off x="4953000" y="3217164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1E3A8A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router</a:t>
              </a:r>
              <a:endParaRPr sz="1800">
                <a:solidFill>
                  <a:srgbClr val="1E3A8A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91" name="Google Shape;91;g3f943fda256_0_143"/>
            <p:cNvSpPr txBox="1"/>
            <p:nvPr/>
          </p:nvSpPr>
          <p:spPr>
            <a:xfrm>
              <a:off x="4953000" y="3788664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1E3A8A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home</a:t>
              </a:r>
              <a:endParaRPr sz="1800">
                <a:solidFill>
                  <a:srgbClr val="1E3A8A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92" name="Google Shape;92;g3f943fda256_0_143"/>
            <p:cNvSpPr txBox="1"/>
            <p:nvPr/>
          </p:nvSpPr>
          <p:spPr>
            <a:xfrm>
              <a:off x="4953000" y="4360164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1E3A8A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videocam</a:t>
              </a:r>
              <a:endParaRPr sz="1800">
                <a:solidFill>
                  <a:srgbClr val="1E3A8A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93" name="Google Shape;93;g3f943fda256_0_143"/>
            <p:cNvSpPr txBox="1"/>
            <p:nvPr/>
          </p:nvSpPr>
          <p:spPr>
            <a:xfrm>
              <a:off x="6667500" y="3754183"/>
              <a:ext cx="4764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700">
                  <a:solidFill>
                    <a:srgbClr val="1E3A8A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security</a:t>
              </a:r>
              <a:endParaRPr sz="2700">
                <a:solidFill>
                  <a:srgbClr val="1E3A8A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94" name="Google Shape;94;g3f943fda256_0_143"/>
            <p:cNvSpPr txBox="1"/>
            <p:nvPr/>
          </p:nvSpPr>
          <p:spPr>
            <a:xfrm>
              <a:off x="4381500" y="4810125"/>
              <a:ext cx="15240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555555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Smart Home Devices</a:t>
              </a:r>
              <a:endParaRPr b="1" sz="1200">
                <a:solidFill>
                  <a:srgbClr val="555555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5" name="Google Shape;95;g3f943fda256_0_143"/>
            <p:cNvSpPr txBox="1"/>
            <p:nvPr/>
          </p:nvSpPr>
          <p:spPr>
            <a:xfrm>
              <a:off x="6191250" y="4810125"/>
              <a:ext cx="15240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555555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Forensic Investigation</a:t>
              </a:r>
              <a:endParaRPr b="1" sz="1200">
                <a:solidFill>
                  <a:srgbClr val="555555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6" name="Google Shape;96;g3f943fda256_0_143"/>
            <p:cNvSpPr txBox="1"/>
            <p:nvPr/>
          </p:nvSpPr>
          <p:spPr>
            <a:xfrm>
              <a:off x="5476875" y="4048125"/>
              <a:ext cx="10479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000">
                  <a:solidFill>
                    <a:srgbClr val="06B6D4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Data Streams</a:t>
              </a:r>
              <a:endParaRPr i="1" sz="1000">
                <a:solidFill>
                  <a:srgbClr val="06B6D4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pic>
        <p:nvPicPr>
          <p:cNvPr id="97" name="Google Shape;97;g3f943fda256_0_143" title="logotransparent.png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625713" y="403150"/>
            <a:ext cx="1892575" cy="1892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f943fda256_0_2597"/>
          <p:cNvSpPr txBox="1"/>
          <p:nvPr>
            <p:ph type="title"/>
          </p:nvPr>
        </p:nvSpPr>
        <p:spPr>
          <a:xfrm>
            <a:off x="457275" y="1411177"/>
            <a:ext cx="8229600" cy="914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1E3A8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From Fragmented IoT Activity to Investigable Evidence</a:t>
            </a:r>
            <a:endParaRPr b="1" sz="2800">
              <a:solidFill>
                <a:srgbClr val="1E3A8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04" name="Google Shape;104;g3f943fda256_0_2597"/>
          <p:cNvGrpSpPr/>
          <p:nvPr/>
        </p:nvGrpSpPr>
        <p:grpSpPr>
          <a:xfrm>
            <a:off x="457200" y="2325575"/>
            <a:ext cx="8229750" cy="2000100"/>
            <a:chOff x="457200" y="2095500"/>
            <a:chExt cx="8229750" cy="2000100"/>
          </a:xfrm>
        </p:grpSpPr>
        <p:sp>
          <p:nvSpPr>
            <p:cNvPr id="105" name="Google Shape;105;g3f943fda256_0_2597"/>
            <p:cNvSpPr/>
            <p:nvPr/>
          </p:nvSpPr>
          <p:spPr>
            <a:xfrm>
              <a:off x="457200" y="2095500"/>
              <a:ext cx="3905400" cy="2000100"/>
            </a:xfrm>
            <a:prstGeom prst="roundRect">
              <a:avLst>
                <a:gd fmla="val 3809" name="adj"/>
              </a:avLst>
            </a:prstGeom>
            <a:solidFill>
              <a:srgbClr val="F8FAFC"/>
            </a:solidFill>
            <a:ln cap="flat" cmpd="sng" w="9525">
              <a:solidFill>
                <a:srgbClr val="1E3A8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" name="Google Shape;106;g3f943fda256_0_2597"/>
            <p:cNvSpPr txBox="1"/>
            <p:nvPr/>
          </p:nvSpPr>
          <p:spPr>
            <a:xfrm>
              <a:off x="457200" y="2095500"/>
              <a:ext cx="3905400" cy="20001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142875" lIns="142875" spcFirstLastPara="1" rIns="142875" wrap="square" tIns="1428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500">
                  <a:solidFill>
                    <a:srgbClr val="1E3A8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Why This Topic?</a:t>
              </a:r>
              <a:endParaRPr b="1" sz="1500">
                <a:solidFill>
                  <a:srgbClr val="1E3A8A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1050">
                  <a:solidFill>
                    <a:srgbClr val="06B6D4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■</a:t>
              </a:r>
              <a:r>
                <a:rPr b="0" lang="en-US" sz="1050">
                  <a:solidFill>
                    <a:srgbClr val="3333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Smart-home evidence is fragmented across devices and vendors</a:t>
              </a:r>
              <a:endParaRPr b="0" sz="105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1" lang="en-US" sz="1050">
                  <a:solidFill>
                    <a:srgbClr val="06B6D4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■</a:t>
              </a:r>
              <a:r>
                <a:rPr b="0" lang="en-US" sz="1050">
                  <a:solidFill>
                    <a:srgbClr val="3333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Live alerts alone do not provide complete forensic context</a:t>
              </a:r>
              <a:endParaRPr b="0" sz="105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1" lang="en-US" sz="1050">
                  <a:solidFill>
                    <a:srgbClr val="06B6D4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■</a:t>
              </a:r>
              <a:r>
                <a:rPr b="0" lang="en-US" sz="1050">
                  <a:solidFill>
                    <a:srgbClr val="3333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IoT telemetry is heterogeneous and privacy-sensitive</a:t>
              </a:r>
              <a:endParaRPr b="0" sz="105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400"/>
                </a:spcAft>
                <a:buNone/>
              </a:pPr>
              <a:r>
                <a:rPr b="1" lang="en-US" sz="1050">
                  <a:solidFill>
                    <a:srgbClr val="06B6D4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■</a:t>
              </a:r>
              <a:r>
                <a:rPr b="0" lang="en-US" sz="1050">
                  <a:solidFill>
                    <a:srgbClr val="3333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Public datasets &amp; live telemetry enable repeatable experiments</a:t>
              </a:r>
              <a:endParaRPr b="0" sz="105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7" name="Google Shape;107;g3f943fda256_0_2597"/>
            <p:cNvSpPr/>
            <p:nvPr/>
          </p:nvSpPr>
          <p:spPr>
            <a:xfrm>
              <a:off x="4781550" y="2095500"/>
              <a:ext cx="3905400" cy="2000100"/>
            </a:xfrm>
            <a:prstGeom prst="roundRect">
              <a:avLst>
                <a:gd fmla="val 3809" name="adj"/>
              </a:avLst>
            </a:prstGeom>
            <a:solidFill>
              <a:srgbClr val="F8FAFC"/>
            </a:solidFill>
            <a:ln cap="flat" cmpd="sng" w="9525">
              <a:solidFill>
                <a:srgbClr val="1E3A8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g3f943fda256_0_2597"/>
            <p:cNvSpPr txBox="1"/>
            <p:nvPr/>
          </p:nvSpPr>
          <p:spPr>
            <a:xfrm>
              <a:off x="4781550" y="2095500"/>
              <a:ext cx="3905400" cy="200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42875" lIns="142875" spcFirstLastPara="1" rIns="142875" wrap="square" tIns="1428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1E3A8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The Core Forensic Challenge</a:t>
              </a:r>
              <a:endParaRPr b="1" sz="1600">
                <a:solidFill>
                  <a:srgbClr val="1E3A8A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-US" sz="1350">
                  <a:solidFill>
                    <a:srgbClr val="DC2626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Siloed &amp; Fragmented Data</a:t>
              </a:r>
              <a:endParaRPr b="1" sz="1350">
                <a:solidFill>
                  <a:srgbClr val="DC2626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1250">
                  <a:solidFill>
                    <a:srgbClr val="444444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IoT evidence is heavily fragmented across diverse devices, proprietary formats, drifted timestamps, and isolated identifiers.</a:t>
              </a:r>
              <a:endParaRPr sz="1250">
                <a:solidFill>
                  <a:srgbClr val="444444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1250">
                  <a:solidFill>
                    <a:srgbClr val="444444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This makes subsequent forensic timeline reconstruction highly complex and error-prone.</a:t>
              </a:r>
              <a:endParaRPr b="1" sz="1250">
                <a:solidFill>
                  <a:srgbClr val="444444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109" name="Google Shape;109;g3f943fda256_0_2597"/>
          <p:cNvSpPr txBox="1"/>
          <p:nvPr>
            <p:ph idx="12" type="sldNum"/>
          </p:nvPr>
        </p:nvSpPr>
        <p:spPr>
          <a:xfrm>
            <a:off x="6553200" y="6373546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110" name="Google Shape;110;g3f943fda256_0_2597"/>
          <p:cNvGrpSpPr/>
          <p:nvPr/>
        </p:nvGrpSpPr>
        <p:grpSpPr>
          <a:xfrm>
            <a:off x="457200" y="4563950"/>
            <a:ext cx="8229600" cy="1809600"/>
            <a:chOff x="457200" y="4333875"/>
            <a:chExt cx="8229600" cy="1809600"/>
          </a:xfrm>
        </p:grpSpPr>
        <p:sp>
          <p:nvSpPr>
            <p:cNvPr id="111" name="Google Shape;111;g3f943fda256_0_2597"/>
            <p:cNvSpPr/>
            <p:nvPr/>
          </p:nvSpPr>
          <p:spPr>
            <a:xfrm>
              <a:off x="457200" y="4333875"/>
              <a:ext cx="8229600" cy="1809600"/>
            </a:xfrm>
            <a:prstGeom prst="roundRect">
              <a:avLst>
                <a:gd fmla="val 4210" name="adj"/>
              </a:avLst>
            </a:prstGeom>
            <a:solidFill>
              <a:srgbClr val="F1F5F9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12" name="Google Shape;112;g3f943fda256_0_259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219325" y="5129213"/>
              <a:ext cx="190500" cy="14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3" name="Google Shape;113;g3f943fda256_0_259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409825" y="5095875"/>
              <a:ext cx="95400" cy="477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4" name="Google Shape;114;g3f943fda256_0_259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295775" y="5129213"/>
              <a:ext cx="190500" cy="14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5" name="Google Shape;115;g3f943fda256_0_259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486275" y="5095875"/>
              <a:ext cx="95400" cy="477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6" name="Google Shape;116;g3f943fda256_0_259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372225" y="5129213"/>
              <a:ext cx="190500" cy="14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7" name="Google Shape;117;g3f943fda256_0_259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562725" y="5095875"/>
              <a:ext cx="95400" cy="47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8" name="Google Shape;118;g3f943fda256_0_2597"/>
            <p:cNvSpPr/>
            <p:nvPr/>
          </p:nvSpPr>
          <p:spPr>
            <a:xfrm>
              <a:off x="600075" y="4524375"/>
              <a:ext cx="1619100" cy="1428900"/>
            </a:xfrm>
            <a:prstGeom prst="roundRect">
              <a:avLst>
                <a:gd fmla="val 4000" name="adj"/>
              </a:avLst>
            </a:prstGeom>
            <a:solidFill>
              <a:srgbClr val="FFFFFF"/>
            </a:solidFill>
            <a:ln cap="flat" cmpd="sng" w="14300">
              <a:solidFill>
                <a:srgbClr val="1E3A8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g3f943fda256_0_2597"/>
            <p:cNvSpPr txBox="1"/>
            <p:nvPr/>
          </p:nvSpPr>
          <p:spPr>
            <a:xfrm>
              <a:off x="600075" y="4524375"/>
              <a:ext cx="1619100" cy="1428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95250" lIns="95250" spcFirstLastPara="1" rIns="95250" wrap="square" tIns="95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1E3A8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1. Smart Home Devices</a:t>
              </a:r>
              <a:endParaRPr b="1" sz="1300">
                <a:solidFill>
                  <a:srgbClr val="1E3A8A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ctr">
                <a:spcBef>
                  <a:spcPts val="450"/>
                </a:spcBef>
                <a:spcAft>
                  <a:spcPts val="450"/>
                </a:spcAft>
                <a:buNone/>
              </a:pPr>
              <a:r>
                <a:rPr b="0" lang="en-US" sz="1100">
                  <a:solidFill>
                    <a:srgbClr val="555555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Historical Evidence &amp; Live Telemetry</a:t>
              </a:r>
              <a:endParaRPr b="0" sz="1100">
                <a:solidFill>
                  <a:srgbClr val="555555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0" name="Google Shape;120;g3f943fda256_0_2597"/>
            <p:cNvSpPr/>
            <p:nvPr/>
          </p:nvSpPr>
          <p:spPr>
            <a:xfrm>
              <a:off x="2676525" y="4524375"/>
              <a:ext cx="1619100" cy="1428900"/>
            </a:xfrm>
            <a:prstGeom prst="roundRect">
              <a:avLst>
                <a:gd fmla="val 4000" name="adj"/>
              </a:avLst>
            </a:prstGeom>
            <a:solidFill>
              <a:srgbClr val="FFFFFF"/>
            </a:solidFill>
            <a:ln cap="flat" cmpd="sng" w="14300">
              <a:solidFill>
                <a:srgbClr val="1E3A8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g3f943fda256_0_2597"/>
            <p:cNvSpPr txBox="1"/>
            <p:nvPr/>
          </p:nvSpPr>
          <p:spPr>
            <a:xfrm>
              <a:off x="2676525" y="4524375"/>
              <a:ext cx="1619100" cy="1428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95250" lIns="95250" spcFirstLastPara="1" rIns="95250" wrap="square" tIns="95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1E3A8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2. Fragmented Logs</a:t>
              </a:r>
              <a:endParaRPr b="1" sz="1300">
                <a:solidFill>
                  <a:srgbClr val="1E3A8A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ctr">
                <a:spcBef>
                  <a:spcPts val="450"/>
                </a:spcBef>
                <a:spcAft>
                  <a:spcPts val="450"/>
                </a:spcAft>
                <a:buNone/>
              </a:pPr>
              <a:r>
                <a:rPr b="0" lang="en-US" sz="1100">
                  <a:solidFill>
                    <a:srgbClr val="555555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Siloed formats &amp; drifted timestamps</a:t>
              </a:r>
              <a:endParaRPr b="0" sz="1100">
                <a:solidFill>
                  <a:srgbClr val="555555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2" name="Google Shape;122;g3f943fda256_0_2597"/>
            <p:cNvSpPr/>
            <p:nvPr/>
          </p:nvSpPr>
          <p:spPr>
            <a:xfrm>
              <a:off x="4752975" y="4524375"/>
              <a:ext cx="1619100" cy="1428900"/>
            </a:xfrm>
            <a:prstGeom prst="roundRect">
              <a:avLst>
                <a:gd fmla="val 4000" name="adj"/>
              </a:avLst>
            </a:prstGeom>
            <a:solidFill>
              <a:srgbClr val="1E3A8A"/>
            </a:solidFill>
            <a:ln cap="flat" cmpd="sng" w="19050">
              <a:solidFill>
                <a:srgbClr val="06B6D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g3f943fda256_0_2597"/>
            <p:cNvSpPr txBox="1"/>
            <p:nvPr/>
          </p:nvSpPr>
          <p:spPr>
            <a:xfrm>
              <a:off x="4752975" y="4524375"/>
              <a:ext cx="1619100" cy="1428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95250" lIns="95250" spcFirstLastPara="1" rIns="95250" wrap="square" tIns="95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06B6D4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3. Traceveil Engine</a:t>
              </a:r>
              <a:endParaRPr b="1" sz="1400">
                <a:solidFill>
                  <a:srgbClr val="06B6D4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ctr">
                <a:spcBef>
                  <a:spcPts val="450"/>
                </a:spcBef>
                <a:spcAft>
                  <a:spcPts val="450"/>
                </a:spcAft>
                <a:buNone/>
              </a:pPr>
              <a:r>
                <a:rPr b="0" lang="en-US" sz="1100">
                  <a:solidFill>
                    <a:srgbClr val="E2E8F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Canonical Normalization &amp; Correlation</a:t>
              </a:r>
              <a:endParaRPr b="0" sz="1100">
                <a:solidFill>
                  <a:srgbClr val="E2E8F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4" name="Google Shape;124;g3f943fda256_0_2597"/>
            <p:cNvSpPr/>
            <p:nvPr/>
          </p:nvSpPr>
          <p:spPr>
            <a:xfrm>
              <a:off x="6829425" y="4524375"/>
              <a:ext cx="1619100" cy="1428900"/>
            </a:xfrm>
            <a:prstGeom prst="roundRect">
              <a:avLst>
                <a:gd fmla="val 4000" name="adj"/>
              </a:avLst>
            </a:prstGeom>
            <a:solidFill>
              <a:srgbClr val="FFFFFF"/>
            </a:solidFill>
            <a:ln cap="flat" cmpd="sng" w="14300">
              <a:solidFill>
                <a:srgbClr val="1E3A8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" name="Google Shape;125;g3f943fda256_0_2597"/>
            <p:cNvSpPr txBox="1"/>
            <p:nvPr/>
          </p:nvSpPr>
          <p:spPr>
            <a:xfrm>
              <a:off x="6829425" y="4524375"/>
              <a:ext cx="1619100" cy="1428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95250" lIns="95250" spcFirstLastPara="1" rIns="95250" wrap="square" tIns="95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1E3A8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4. Investigation</a:t>
              </a:r>
              <a:endParaRPr b="1" sz="1300">
                <a:solidFill>
                  <a:srgbClr val="1E3A8A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ctr">
                <a:spcBef>
                  <a:spcPts val="450"/>
                </a:spcBef>
                <a:spcAft>
                  <a:spcPts val="450"/>
                </a:spcAft>
                <a:buNone/>
              </a:pPr>
              <a:r>
                <a:rPr b="0" lang="en-US" sz="1100">
                  <a:solidFill>
                    <a:srgbClr val="555555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Correlated Alerts, Timelines, &amp; Evidence</a:t>
              </a:r>
              <a:endParaRPr b="0" sz="1100">
                <a:solidFill>
                  <a:srgbClr val="555555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f943fda256_0_0"/>
          <p:cNvSpPr txBox="1"/>
          <p:nvPr/>
        </p:nvSpPr>
        <p:spPr>
          <a:xfrm>
            <a:off x="457200" y="1344350"/>
            <a:ext cx="82296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1E3A8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Literature Survey</a:t>
            </a:r>
            <a:endParaRPr b="1" sz="2800">
              <a:solidFill>
                <a:srgbClr val="1E3A8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32" name="Google Shape;132;g3f943fda256_0_0"/>
          <p:cNvGraphicFramePr/>
          <p:nvPr/>
        </p:nvGraphicFramePr>
        <p:xfrm>
          <a:off x="457200" y="2106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{0849A7E7-335D-4DC3-AB32-7E6188E110B4}</a:tableStyleId>
              </a:tblPr>
              <a:tblGrid>
                <a:gridCol w="2743200"/>
                <a:gridCol w="2743200"/>
                <a:gridCol w="2743200"/>
              </a:tblGrid>
              <a:tr h="723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/>
                        <a:t>Research Work</a:t>
                      </a:r>
                      <a:endParaRPr b="1" sz="1400"/>
                    </a:p>
                  </a:txBody>
                  <a:tcPr marT="133350" marB="133350" marR="152400" marL="152400">
                    <a:lnB cap="flat" cmpd="sng" w="28575">
                      <a:solidFill>
                        <a:srgbClr val="06B6D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/>
                        <a:t>Main Focus</a:t>
                      </a:r>
                      <a:endParaRPr b="1" sz="1400"/>
                    </a:p>
                  </a:txBody>
                  <a:tcPr marT="133350" marB="133350" marR="152400" marL="152400">
                    <a:lnB cap="flat" cmpd="sng" w="28575">
                      <a:solidFill>
                        <a:srgbClr val="06B6D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/>
                        <a:t>Relevance to Traceveil</a:t>
                      </a:r>
                      <a:endParaRPr b="1" sz="1400"/>
                    </a:p>
                  </a:txBody>
                  <a:tcPr marT="133350" marB="133350" marR="152400" marL="152400">
                    <a:lnB cap="flat" cmpd="sng" w="28575">
                      <a:solidFill>
                        <a:srgbClr val="06B6D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23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rgbClr val="06B6D4"/>
                          </a:solidFill>
                          <a:highlight>
                            <a:srgbClr val="FFFFFF"/>
                          </a:highlight>
                        </a:rPr>
                        <a:t>■</a:t>
                      </a:r>
                      <a:r>
                        <a:rPr b="1" lang="en-US">
                          <a:solidFill>
                            <a:srgbClr val="1E3A8A"/>
                          </a:solidFill>
                          <a:highlight>
                            <a:srgbClr val="FFFFFF"/>
                          </a:highlight>
                        </a:rPr>
                        <a:t>TON_IoT </a:t>
                      </a:r>
                      <a:r>
                        <a:rPr b="0" lang="en-US" sz="1100">
                          <a:solidFill>
                            <a:srgbClr val="666666"/>
                          </a:solidFill>
                          <a:highlight>
                            <a:srgbClr val="FFFFFF"/>
                          </a:highlight>
                        </a:rPr>
                        <a:t>— 2020</a:t>
                      </a:r>
                      <a:endParaRPr b="1">
                        <a:solidFill>
                          <a:srgbClr val="1E3A8A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33350" marB="133350" marR="152400" marL="152400">
                    <a:lnT cap="flat" cmpd="sng" w="28575">
                      <a:solidFill>
                        <a:srgbClr val="06B6D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highlight>
                            <a:srgbClr val="FFFFFF"/>
                          </a:highlight>
                        </a:rPr>
                        <a:t>Heterogeneous IoT/IIoT telemetry dataset</a:t>
                      </a:r>
                      <a:endParaRPr>
                        <a:highlight>
                          <a:srgbClr val="FFFFFF"/>
                        </a:highlight>
                      </a:endParaRPr>
                    </a:p>
                  </a:txBody>
                  <a:tcPr marT="133350" marB="133350" marR="152400" marL="152400">
                    <a:lnT cap="flat" cmpd="sng" w="28575">
                      <a:solidFill>
                        <a:srgbClr val="06B6D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>
                          <a:highlight>
                            <a:srgbClr val="FFFFFF"/>
                          </a:highlight>
                        </a:rPr>
                        <a:t>Supports batch evidence ingestion and normalization</a:t>
                      </a:r>
                      <a:endParaRPr b="0">
                        <a:highlight>
                          <a:srgbClr val="FFFFFF"/>
                        </a:highlight>
                      </a:endParaRPr>
                    </a:p>
                  </a:txBody>
                  <a:tcPr marT="133350" marB="133350" marR="152400" marL="152400">
                    <a:lnT cap="flat" cmpd="sng" w="28575">
                      <a:solidFill>
                        <a:srgbClr val="06B6D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rgbClr val="06B6D4"/>
                          </a:solidFill>
                          <a:highlight>
                            <a:srgbClr val="F8FAFC"/>
                          </a:highlight>
                        </a:rPr>
                        <a:t>■</a:t>
                      </a:r>
                      <a:r>
                        <a:rPr b="1" lang="en-US">
                          <a:solidFill>
                            <a:srgbClr val="1E3A8A"/>
                          </a:solidFill>
                          <a:highlight>
                            <a:srgbClr val="F8FAFC"/>
                          </a:highlight>
                        </a:rPr>
                        <a:t>CICIoT2023 </a:t>
                      </a:r>
                      <a:r>
                        <a:rPr b="0" lang="en-US" sz="1100">
                          <a:solidFill>
                            <a:srgbClr val="666666"/>
                          </a:solidFill>
                          <a:highlight>
                            <a:srgbClr val="F8FAFC"/>
                          </a:highlight>
                        </a:rPr>
                        <a:t>— 2023</a:t>
                      </a:r>
                      <a:endParaRPr b="1">
                        <a:solidFill>
                          <a:srgbClr val="1E3A8A"/>
                        </a:solidFill>
                        <a:highlight>
                          <a:srgbClr val="F8FAFC"/>
                        </a:highlight>
                      </a:endParaRPr>
                    </a:p>
                  </a:txBody>
                  <a:tcPr marT="133350" marB="133350" marR="152400" marL="152400"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highlight>
                            <a:srgbClr val="F8FAFC"/>
                          </a:highlight>
                        </a:rPr>
                        <a:t>Large-scale IoT attack dataset and benchmark</a:t>
                      </a:r>
                      <a:endParaRPr>
                        <a:highlight>
                          <a:srgbClr val="F8FAFC"/>
                        </a:highlight>
                      </a:endParaRPr>
                    </a:p>
                  </a:txBody>
                  <a:tcPr marT="133350" marB="133350" marR="152400" marL="152400"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>
                          <a:highlight>
                            <a:srgbClr val="F8FAFC"/>
                          </a:highlight>
                        </a:rPr>
                        <a:t>Supports evaluation of detection workflows</a:t>
                      </a:r>
                      <a:endParaRPr b="0">
                        <a:highlight>
                          <a:srgbClr val="F8FAFC"/>
                        </a:highlight>
                      </a:endParaRPr>
                    </a:p>
                  </a:txBody>
                  <a:tcPr marT="133350" marB="133350" marR="152400" marL="152400"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rgbClr val="06B6D4"/>
                          </a:solidFill>
                          <a:highlight>
                            <a:srgbClr val="FFFFFF"/>
                          </a:highlight>
                        </a:rPr>
                        <a:t>■</a:t>
                      </a:r>
                      <a:r>
                        <a:rPr b="1" lang="en-US">
                          <a:solidFill>
                            <a:srgbClr val="1E3A8A"/>
                          </a:solidFill>
                          <a:highlight>
                            <a:srgbClr val="FFFFFF"/>
                          </a:highlight>
                        </a:rPr>
                        <a:t>Smart Home Forensics </a:t>
                      </a:r>
                      <a:r>
                        <a:rPr b="0" lang="en-US" sz="1100">
                          <a:solidFill>
                            <a:srgbClr val="666666"/>
                          </a:solidFill>
                          <a:highlight>
                            <a:srgbClr val="FFFFFF"/>
                          </a:highlight>
                        </a:rPr>
                        <a:t>— 2020</a:t>
                      </a:r>
                      <a:endParaRPr b="1">
                        <a:solidFill>
                          <a:srgbClr val="1E3A8A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33350" marB="133350" marR="152400" marL="152400"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highlight>
                            <a:srgbClr val="FFFFFF"/>
                          </a:highlight>
                        </a:rPr>
                        <a:t>Multi-device smart-home evidence analysis</a:t>
                      </a:r>
                      <a:endParaRPr>
                        <a:highlight>
                          <a:srgbClr val="FFFFFF"/>
                        </a:highlight>
                      </a:endParaRPr>
                    </a:p>
                  </a:txBody>
                  <a:tcPr marT="133350" marB="133350" marR="152400" marL="152400"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>
                          <a:highlight>
                            <a:srgbClr val="FFFFFF"/>
                          </a:highlight>
                        </a:rPr>
                        <a:t>Supports cross-device evidence correlation</a:t>
                      </a:r>
                      <a:endParaRPr b="0">
                        <a:highlight>
                          <a:srgbClr val="FFFFFF"/>
                        </a:highlight>
                      </a:endParaRPr>
                    </a:p>
                  </a:txBody>
                  <a:tcPr marT="133350" marB="133350" marR="152400" marL="152400"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rgbClr val="06B6D4"/>
                          </a:solidFill>
                          <a:highlight>
                            <a:srgbClr val="F8FAFC"/>
                          </a:highlight>
                        </a:rPr>
                        <a:t>■</a:t>
                      </a:r>
                      <a:r>
                        <a:rPr b="1" lang="en-US">
                          <a:solidFill>
                            <a:srgbClr val="1E3A8A"/>
                          </a:solidFill>
                          <a:highlight>
                            <a:srgbClr val="F8FAFC"/>
                          </a:highlight>
                        </a:rPr>
                        <a:t>IoT Forensic Challenges &amp; Opportunities </a:t>
                      </a:r>
                      <a:r>
                        <a:rPr b="0" lang="en-US" sz="1100">
                          <a:solidFill>
                            <a:srgbClr val="666666"/>
                          </a:solidFill>
                          <a:highlight>
                            <a:srgbClr val="F8FAFC"/>
                          </a:highlight>
                        </a:rPr>
                        <a:t>— 2019</a:t>
                      </a:r>
                      <a:endParaRPr b="1">
                        <a:solidFill>
                          <a:srgbClr val="1E3A8A"/>
                        </a:solidFill>
                        <a:highlight>
                          <a:srgbClr val="F8FAFC"/>
                        </a:highlight>
                      </a:endParaRPr>
                    </a:p>
                  </a:txBody>
                  <a:tcPr marT="133350" marB="133350" marR="152400" marL="152400"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E3A8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highlight>
                            <a:srgbClr val="F8FAFC"/>
                          </a:highlight>
                        </a:rPr>
                        <a:t>IoT evidence acquisition and forensic challenges</a:t>
                      </a:r>
                      <a:endParaRPr>
                        <a:highlight>
                          <a:srgbClr val="F8FAFC"/>
                        </a:highlight>
                      </a:endParaRPr>
                    </a:p>
                  </a:txBody>
                  <a:tcPr marT="133350" marB="133350" marR="152400" marL="152400"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E3A8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>
                          <a:highlight>
                            <a:srgbClr val="F8FAFC"/>
                          </a:highlight>
                        </a:rPr>
                        <a:t>Motivates a unified forensic workflow</a:t>
                      </a:r>
                      <a:endParaRPr b="0">
                        <a:highlight>
                          <a:srgbClr val="F8FAFC"/>
                        </a:highlight>
                      </a:endParaRPr>
                    </a:p>
                  </a:txBody>
                  <a:tcPr marT="133350" marB="133350" marR="152400" marL="152400"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E3A8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33" name="Google Shape;133;g3f943fda256_0_0"/>
          <p:cNvSpPr txBox="1"/>
          <p:nvPr>
            <p:ph idx="12" type="sldNum"/>
          </p:nvPr>
        </p:nvSpPr>
        <p:spPr>
          <a:xfrm>
            <a:off x="6553200" y="6373546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134" name="Google Shape;134;g3f943fda256_0_0"/>
          <p:cNvGrpSpPr/>
          <p:nvPr/>
        </p:nvGrpSpPr>
        <p:grpSpPr>
          <a:xfrm>
            <a:off x="457200" y="5916350"/>
            <a:ext cx="8229600" cy="457200"/>
            <a:chOff x="457200" y="5715000"/>
            <a:chExt cx="8229600" cy="457200"/>
          </a:xfrm>
        </p:grpSpPr>
        <p:sp>
          <p:nvSpPr>
            <p:cNvPr id="135" name="Google Shape;135;g3f943fda256_0_0"/>
            <p:cNvSpPr/>
            <p:nvPr/>
          </p:nvSpPr>
          <p:spPr>
            <a:xfrm>
              <a:off x="457200" y="5715000"/>
              <a:ext cx="8229600" cy="457200"/>
            </a:xfrm>
            <a:prstGeom prst="roundRect">
              <a:avLst>
                <a:gd fmla="val 12500" name="adj"/>
              </a:avLst>
            </a:prstGeom>
            <a:solidFill>
              <a:srgbClr val="F1F5F9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" name="Google Shape;136;g3f943fda256_0_0"/>
            <p:cNvSpPr txBox="1"/>
            <p:nvPr/>
          </p:nvSpPr>
          <p:spPr>
            <a:xfrm>
              <a:off x="457200" y="5715000"/>
              <a:ext cx="82296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50">
                  <a:solidFill>
                    <a:srgbClr val="1E3A8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Supporting Standards: </a:t>
              </a:r>
              <a:r>
                <a:rPr b="1" lang="en-US" sz="1350">
                  <a:solidFill>
                    <a:srgbClr val="06B6D4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NIST SP 800-86</a:t>
              </a:r>
              <a:r>
                <a:rPr b="0" lang="en-US" sz="1350">
                  <a:solidFill>
                    <a:srgbClr val="CCCCCC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·</a:t>
              </a:r>
              <a:r>
                <a:rPr b="1" lang="en-US" sz="1350">
                  <a:solidFill>
                    <a:srgbClr val="06B6D4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NIST SP 800-92</a:t>
              </a:r>
              <a:endParaRPr b="1" sz="1350">
                <a:solidFill>
                  <a:srgbClr val="1E3A8A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f943fda256_0_3160"/>
          <p:cNvSpPr txBox="1"/>
          <p:nvPr/>
        </p:nvSpPr>
        <p:spPr>
          <a:xfrm>
            <a:off x="457200" y="1492250"/>
            <a:ext cx="82296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1E3A8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Tool-Based Comparison &amp; Research Positioning</a:t>
            </a:r>
            <a:endParaRPr b="1" sz="2600">
              <a:solidFill>
                <a:srgbClr val="1E3A8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43" name="Google Shape;143;g3f943fda256_0_3160"/>
          <p:cNvGrpSpPr/>
          <p:nvPr/>
        </p:nvGrpSpPr>
        <p:grpSpPr>
          <a:xfrm>
            <a:off x="457200" y="2000250"/>
            <a:ext cx="8229600" cy="2933700"/>
            <a:chOff x="457200" y="2000250"/>
            <a:chExt cx="8229600" cy="2933700"/>
          </a:xfrm>
        </p:grpSpPr>
        <p:sp>
          <p:nvSpPr>
            <p:cNvPr id="144" name="Google Shape;144;g3f943fda256_0_3160"/>
            <p:cNvSpPr/>
            <p:nvPr/>
          </p:nvSpPr>
          <p:spPr>
            <a:xfrm>
              <a:off x="457200" y="2000250"/>
              <a:ext cx="8229600" cy="333300"/>
            </a:xfrm>
            <a:prstGeom prst="roundRect">
              <a:avLst>
                <a:gd fmla="val 11428" name="adj"/>
              </a:avLst>
            </a:prstGeom>
            <a:solidFill>
              <a:srgbClr val="1E3A8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" name="Google Shape;145;g3f943fda256_0_3160"/>
            <p:cNvSpPr/>
            <p:nvPr/>
          </p:nvSpPr>
          <p:spPr>
            <a:xfrm>
              <a:off x="457200" y="2362200"/>
              <a:ext cx="6467400" cy="342900"/>
            </a:xfrm>
            <a:prstGeom prst="roundRect">
              <a:avLst>
                <a:gd fmla="val 11111" name="adj"/>
              </a:avLst>
            </a:prstGeom>
            <a:solidFill>
              <a:srgbClr val="F8FAF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" name="Google Shape;146;g3f943fda256_0_3160"/>
            <p:cNvSpPr/>
            <p:nvPr/>
          </p:nvSpPr>
          <p:spPr>
            <a:xfrm>
              <a:off x="457200" y="2733675"/>
              <a:ext cx="6467400" cy="342900"/>
            </a:xfrm>
            <a:prstGeom prst="roundRect">
              <a:avLst>
                <a:gd fmla="val 11111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" name="Google Shape;147;g3f943fda256_0_3160"/>
            <p:cNvSpPr/>
            <p:nvPr/>
          </p:nvSpPr>
          <p:spPr>
            <a:xfrm>
              <a:off x="457200" y="3105150"/>
              <a:ext cx="6467400" cy="342900"/>
            </a:xfrm>
            <a:prstGeom prst="roundRect">
              <a:avLst>
                <a:gd fmla="val 11111" name="adj"/>
              </a:avLst>
            </a:prstGeom>
            <a:solidFill>
              <a:srgbClr val="F8FAF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" name="Google Shape;148;g3f943fda256_0_3160"/>
            <p:cNvSpPr/>
            <p:nvPr/>
          </p:nvSpPr>
          <p:spPr>
            <a:xfrm>
              <a:off x="457200" y="3476625"/>
              <a:ext cx="6467400" cy="342900"/>
            </a:xfrm>
            <a:prstGeom prst="roundRect">
              <a:avLst>
                <a:gd fmla="val 11111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" name="Google Shape;149;g3f943fda256_0_3160"/>
            <p:cNvSpPr/>
            <p:nvPr/>
          </p:nvSpPr>
          <p:spPr>
            <a:xfrm>
              <a:off x="457200" y="3848100"/>
              <a:ext cx="6467400" cy="342900"/>
            </a:xfrm>
            <a:prstGeom prst="roundRect">
              <a:avLst>
                <a:gd fmla="val 11111" name="adj"/>
              </a:avLst>
            </a:prstGeom>
            <a:solidFill>
              <a:srgbClr val="F8FAF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" name="Google Shape;150;g3f943fda256_0_3160"/>
            <p:cNvSpPr/>
            <p:nvPr/>
          </p:nvSpPr>
          <p:spPr>
            <a:xfrm>
              <a:off x="457200" y="4219575"/>
              <a:ext cx="6467400" cy="342900"/>
            </a:xfrm>
            <a:prstGeom prst="roundRect">
              <a:avLst>
                <a:gd fmla="val 11111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" name="Google Shape;151;g3f943fda256_0_3160"/>
            <p:cNvSpPr/>
            <p:nvPr/>
          </p:nvSpPr>
          <p:spPr>
            <a:xfrm>
              <a:off x="457200" y="4591050"/>
              <a:ext cx="6467400" cy="342900"/>
            </a:xfrm>
            <a:prstGeom prst="roundRect">
              <a:avLst>
                <a:gd fmla="val 11111" name="adj"/>
              </a:avLst>
            </a:prstGeom>
            <a:solidFill>
              <a:srgbClr val="F8FAF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" name="Google Shape;152;g3f943fda256_0_3160"/>
            <p:cNvSpPr/>
            <p:nvPr/>
          </p:nvSpPr>
          <p:spPr>
            <a:xfrm>
              <a:off x="6972300" y="2000250"/>
              <a:ext cx="1714500" cy="2933700"/>
            </a:xfrm>
            <a:prstGeom prst="roundRect">
              <a:avLst>
                <a:gd fmla="val 3333" name="adj"/>
              </a:avLst>
            </a:prstGeom>
            <a:solidFill>
              <a:srgbClr val="1E3A8A"/>
            </a:solidFill>
            <a:ln cap="flat" cmpd="sng" w="14300">
              <a:solidFill>
                <a:srgbClr val="06B6D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3" name="Google Shape;153;g3f943fda256_0_3160"/>
          <p:cNvSpPr txBox="1"/>
          <p:nvPr>
            <p:ph idx="12" type="sldNum"/>
          </p:nvPr>
        </p:nvSpPr>
        <p:spPr>
          <a:xfrm>
            <a:off x="6553200" y="6373546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154" name="Google Shape;154;g3f943fda256_0_3160"/>
          <p:cNvGrpSpPr/>
          <p:nvPr/>
        </p:nvGrpSpPr>
        <p:grpSpPr>
          <a:xfrm>
            <a:off x="504825" y="2000250"/>
            <a:ext cx="8181975" cy="333300"/>
            <a:chOff x="504825" y="2000250"/>
            <a:chExt cx="8181975" cy="333300"/>
          </a:xfrm>
        </p:grpSpPr>
        <p:sp>
          <p:nvSpPr>
            <p:cNvPr id="155" name="Google Shape;155;g3f943fda256_0_3160"/>
            <p:cNvSpPr txBox="1"/>
            <p:nvPr/>
          </p:nvSpPr>
          <p:spPr>
            <a:xfrm>
              <a:off x="504825" y="2000250"/>
              <a:ext cx="1704900" cy="33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47625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5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Capability</a:t>
              </a:r>
              <a:endParaRPr b="1" sz="105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6" name="Google Shape;156;g3f943fda256_0_3160"/>
            <p:cNvSpPr txBox="1"/>
            <p:nvPr/>
          </p:nvSpPr>
          <p:spPr>
            <a:xfrm>
              <a:off x="2257425" y="2000250"/>
              <a:ext cx="1524000" cy="33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Defender for IoT</a:t>
              </a:r>
              <a:endParaRPr b="1" sz="10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7" name="Google Shape;157;g3f943fda256_0_3160"/>
            <p:cNvSpPr txBox="1"/>
            <p:nvPr/>
          </p:nvSpPr>
          <p:spPr>
            <a:xfrm>
              <a:off x="3829050" y="2000250"/>
              <a:ext cx="1524000" cy="33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Device Defender</a:t>
              </a:r>
              <a:endParaRPr b="1" sz="10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8" name="Google Shape;158;g3f943fda256_0_3160"/>
            <p:cNvSpPr txBox="1"/>
            <p:nvPr/>
          </p:nvSpPr>
          <p:spPr>
            <a:xfrm>
              <a:off x="5400675" y="2000250"/>
              <a:ext cx="1524000" cy="33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Splunk ES / QRadar</a:t>
              </a:r>
              <a:endParaRPr b="1" sz="10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9" name="Google Shape;159;g3f943fda256_0_3160"/>
            <p:cNvSpPr txBox="1"/>
            <p:nvPr/>
          </p:nvSpPr>
          <p:spPr>
            <a:xfrm>
              <a:off x="6972300" y="2000250"/>
              <a:ext cx="1714500" cy="33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06B6D4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Traceveil (Ours)</a:t>
              </a:r>
              <a:endParaRPr b="1" sz="1100">
                <a:solidFill>
                  <a:srgbClr val="06B6D4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160" name="Google Shape;160;g3f943fda256_0_3160"/>
          <p:cNvGrpSpPr/>
          <p:nvPr/>
        </p:nvGrpSpPr>
        <p:grpSpPr>
          <a:xfrm>
            <a:off x="504825" y="2362200"/>
            <a:ext cx="8181975" cy="342900"/>
            <a:chOff x="504825" y="2362200"/>
            <a:chExt cx="8181975" cy="342900"/>
          </a:xfrm>
        </p:grpSpPr>
        <p:sp>
          <p:nvSpPr>
            <p:cNvPr id="161" name="Google Shape;161;g3f943fda256_0_3160"/>
            <p:cNvSpPr txBox="1"/>
            <p:nvPr/>
          </p:nvSpPr>
          <p:spPr>
            <a:xfrm>
              <a:off x="504825" y="2362200"/>
              <a:ext cx="17049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47625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1E3A8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Live IoT Monitoring</a:t>
              </a:r>
              <a:endParaRPr b="1" sz="1000">
                <a:solidFill>
                  <a:srgbClr val="1E3A8A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62" name="Google Shape;162;g3f943fda256_0_3160"/>
            <p:cNvSpPr txBox="1"/>
            <p:nvPr/>
          </p:nvSpPr>
          <p:spPr>
            <a:xfrm>
              <a:off x="2257425" y="2362200"/>
              <a:ext cx="15240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9050" lIns="19050" spcFirstLastPara="1" rIns="19050" wrap="square" tIns="190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>
                  <a:solidFill>
                    <a:srgbClr val="3333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Enterprise capability</a:t>
              </a:r>
              <a:endParaRPr sz="9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63" name="Google Shape;163;g3f943fda256_0_3160"/>
            <p:cNvSpPr txBox="1"/>
            <p:nvPr/>
          </p:nvSpPr>
          <p:spPr>
            <a:xfrm>
              <a:off x="3829050" y="2362200"/>
              <a:ext cx="15240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9050" lIns="19050" spcFirstLastPara="1" rIns="19050" wrap="square" tIns="190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>
                  <a:solidFill>
                    <a:srgbClr val="3333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AWS IoT fleet monitoring</a:t>
              </a:r>
              <a:endParaRPr sz="9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64" name="Google Shape;164;g3f943fda256_0_3160"/>
            <p:cNvSpPr txBox="1"/>
            <p:nvPr/>
          </p:nvSpPr>
          <p:spPr>
            <a:xfrm>
              <a:off x="5400675" y="2362200"/>
              <a:ext cx="15240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9050" lIns="19050" spcFirstLastPara="1" rIns="19050" wrap="square" tIns="190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>
                  <a:solidFill>
                    <a:srgbClr val="3333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Security event monitoring</a:t>
              </a:r>
              <a:endParaRPr sz="9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65" name="Google Shape;165;g3f943fda256_0_3160"/>
            <p:cNvSpPr txBox="1"/>
            <p:nvPr/>
          </p:nvSpPr>
          <p:spPr>
            <a:xfrm>
              <a:off x="6972300" y="2362200"/>
              <a:ext cx="17145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9050" lIns="19050" spcFirstLastPara="1" rIns="19050" wrap="square" tIns="190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95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Controlled laboratory telemetry</a:t>
              </a:r>
              <a:endParaRPr b="1" sz="95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166" name="Google Shape;166;g3f943fda256_0_3160"/>
          <p:cNvGrpSpPr/>
          <p:nvPr/>
        </p:nvGrpSpPr>
        <p:grpSpPr>
          <a:xfrm>
            <a:off x="504825" y="2733675"/>
            <a:ext cx="8181975" cy="342900"/>
            <a:chOff x="504825" y="2733675"/>
            <a:chExt cx="8181975" cy="342900"/>
          </a:xfrm>
        </p:grpSpPr>
        <p:sp>
          <p:nvSpPr>
            <p:cNvPr id="167" name="Google Shape;167;g3f943fda256_0_3160"/>
            <p:cNvSpPr txBox="1"/>
            <p:nvPr/>
          </p:nvSpPr>
          <p:spPr>
            <a:xfrm>
              <a:off x="504825" y="2733675"/>
              <a:ext cx="17049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47625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1E3A8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Historical Evidence</a:t>
              </a:r>
              <a:endParaRPr b="1" sz="1000">
                <a:solidFill>
                  <a:srgbClr val="1E3A8A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68" name="Google Shape;168;g3f943fda256_0_3160"/>
            <p:cNvSpPr txBox="1"/>
            <p:nvPr/>
          </p:nvSpPr>
          <p:spPr>
            <a:xfrm>
              <a:off x="2257425" y="2733675"/>
              <a:ext cx="15240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9050" lIns="19050" spcFirstLastPara="1" rIns="19050" wrap="square" tIns="190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>
                  <a:solidFill>
                    <a:srgbClr val="3333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Platform ecosystem support</a:t>
              </a:r>
              <a:endParaRPr sz="9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69" name="Google Shape;169;g3f943fda256_0_3160"/>
            <p:cNvSpPr txBox="1"/>
            <p:nvPr/>
          </p:nvSpPr>
          <p:spPr>
            <a:xfrm>
              <a:off x="3829050" y="2733675"/>
              <a:ext cx="15240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9050" lIns="19050" spcFirstLastPara="1" rIns="19050" wrap="square" tIns="190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>
                  <a:solidFill>
                    <a:srgbClr val="3333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Audit &amp; monitoring history</a:t>
              </a:r>
              <a:endParaRPr sz="9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70" name="Google Shape;170;g3f943fda256_0_3160"/>
            <p:cNvSpPr txBox="1"/>
            <p:nvPr/>
          </p:nvSpPr>
          <p:spPr>
            <a:xfrm>
              <a:off x="5400675" y="2733675"/>
              <a:ext cx="15240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9050" lIns="19050" spcFirstLastPara="1" rIns="19050" wrap="square" tIns="190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>
                  <a:solidFill>
                    <a:srgbClr val="3333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Strong log investigation</a:t>
              </a:r>
              <a:endParaRPr sz="9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71" name="Google Shape;171;g3f943fda256_0_3160"/>
            <p:cNvSpPr txBox="1"/>
            <p:nvPr/>
          </p:nvSpPr>
          <p:spPr>
            <a:xfrm>
              <a:off x="6972300" y="2733675"/>
              <a:ext cx="17145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9050" lIns="19050" spcFirstLastPara="1" rIns="19050" wrap="square" tIns="190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950">
                  <a:solidFill>
                    <a:srgbClr val="06B6D4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Core project focus</a:t>
              </a:r>
              <a:endParaRPr b="1" sz="950">
                <a:solidFill>
                  <a:srgbClr val="06B6D4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172" name="Google Shape;172;g3f943fda256_0_3160"/>
          <p:cNvGrpSpPr/>
          <p:nvPr/>
        </p:nvGrpSpPr>
        <p:grpSpPr>
          <a:xfrm>
            <a:off x="504825" y="3105150"/>
            <a:ext cx="8181975" cy="342900"/>
            <a:chOff x="504825" y="3105150"/>
            <a:chExt cx="8181975" cy="342900"/>
          </a:xfrm>
        </p:grpSpPr>
        <p:sp>
          <p:nvSpPr>
            <p:cNvPr id="173" name="Google Shape;173;g3f943fda256_0_3160"/>
            <p:cNvSpPr txBox="1"/>
            <p:nvPr/>
          </p:nvSpPr>
          <p:spPr>
            <a:xfrm>
              <a:off x="504825" y="3105150"/>
              <a:ext cx="17049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47625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1E3A8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Event Normalization</a:t>
              </a:r>
              <a:endParaRPr b="1" sz="1000">
                <a:solidFill>
                  <a:srgbClr val="1E3A8A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74" name="Google Shape;174;g3f943fda256_0_3160"/>
            <p:cNvSpPr txBox="1"/>
            <p:nvPr/>
          </p:nvSpPr>
          <p:spPr>
            <a:xfrm>
              <a:off x="2257425" y="3105150"/>
              <a:ext cx="15240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9050" lIns="19050" spcFirstLastPara="1" rIns="19050" wrap="square" tIns="190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>
                  <a:solidFill>
                    <a:srgbClr val="3333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Platform-specific</a:t>
              </a:r>
              <a:endParaRPr sz="9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75" name="Google Shape;175;g3f943fda256_0_3160"/>
            <p:cNvSpPr txBox="1"/>
            <p:nvPr/>
          </p:nvSpPr>
          <p:spPr>
            <a:xfrm>
              <a:off x="3829050" y="3105150"/>
              <a:ext cx="15240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9050" lIns="19050" spcFirstLastPara="1" rIns="19050" wrap="square" tIns="190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>
                  <a:solidFill>
                    <a:srgbClr val="3333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Platform-specific</a:t>
              </a:r>
              <a:endParaRPr sz="9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76" name="Google Shape;176;g3f943fda256_0_3160"/>
            <p:cNvSpPr txBox="1"/>
            <p:nvPr/>
          </p:nvSpPr>
          <p:spPr>
            <a:xfrm>
              <a:off x="5400675" y="3105150"/>
              <a:ext cx="15240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9050" lIns="19050" spcFirstLastPara="1" rIns="19050" wrap="square" tIns="190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>
                  <a:solidFill>
                    <a:srgbClr val="3333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General security schemas</a:t>
              </a:r>
              <a:endParaRPr sz="9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77" name="Google Shape;177;g3f943fda256_0_3160"/>
            <p:cNvSpPr txBox="1"/>
            <p:nvPr/>
          </p:nvSpPr>
          <p:spPr>
            <a:xfrm>
              <a:off x="6972300" y="3105150"/>
              <a:ext cx="17145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9050" lIns="19050" spcFirstLastPara="1" rIns="19050" wrap="square" tIns="190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95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One canonical IoT event model</a:t>
              </a:r>
              <a:endParaRPr b="1" sz="95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178" name="Google Shape;178;g3f943fda256_0_3160"/>
          <p:cNvGrpSpPr/>
          <p:nvPr/>
        </p:nvGrpSpPr>
        <p:grpSpPr>
          <a:xfrm>
            <a:off x="504825" y="3476625"/>
            <a:ext cx="8181975" cy="342900"/>
            <a:chOff x="504825" y="3476625"/>
            <a:chExt cx="8181975" cy="342900"/>
          </a:xfrm>
        </p:grpSpPr>
        <p:sp>
          <p:nvSpPr>
            <p:cNvPr id="179" name="Google Shape;179;g3f943fda256_0_3160"/>
            <p:cNvSpPr txBox="1"/>
            <p:nvPr/>
          </p:nvSpPr>
          <p:spPr>
            <a:xfrm>
              <a:off x="504825" y="3476625"/>
              <a:ext cx="17049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47625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1E3A8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Timeline Reconstruction</a:t>
              </a:r>
              <a:endParaRPr b="1" sz="1000">
                <a:solidFill>
                  <a:srgbClr val="1E3A8A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80" name="Google Shape;180;g3f943fda256_0_3160"/>
            <p:cNvSpPr txBox="1"/>
            <p:nvPr/>
          </p:nvSpPr>
          <p:spPr>
            <a:xfrm>
              <a:off x="2257425" y="3476625"/>
              <a:ext cx="15240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9050" lIns="19050" spcFirstLastPara="1" rIns="19050" wrap="square" tIns="190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>
                  <a:solidFill>
                    <a:srgbClr val="3333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Broader workflows</a:t>
              </a:r>
              <a:endParaRPr sz="9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81" name="Google Shape;181;g3f943fda256_0_3160"/>
            <p:cNvSpPr txBox="1"/>
            <p:nvPr/>
          </p:nvSpPr>
          <p:spPr>
            <a:xfrm>
              <a:off x="3829050" y="3476625"/>
              <a:ext cx="15240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9050" lIns="19050" spcFirstLastPara="1" rIns="19050" wrap="square" tIns="190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>
                  <a:solidFill>
                    <a:srgbClr val="3333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Not primary focus</a:t>
              </a:r>
              <a:endParaRPr sz="9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82" name="Google Shape;182;g3f943fda256_0_3160"/>
            <p:cNvSpPr txBox="1"/>
            <p:nvPr/>
          </p:nvSpPr>
          <p:spPr>
            <a:xfrm>
              <a:off x="5400675" y="3476625"/>
              <a:ext cx="15240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9050" lIns="19050" spcFirstLastPara="1" rIns="19050" wrap="square" tIns="190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>
                  <a:solidFill>
                    <a:srgbClr val="3333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Investigation capabilities</a:t>
              </a:r>
              <a:endParaRPr sz="9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83" name="Google Shape;183;g3f943fda256_0_3160"/>
            <p:cNvSpPr txBox="1"/>
            <p:nvPr/>
          </p:nvSpPr>
          <p:spPr>
            <a:xfrm>
              <a:off x="6972300" y="3476625"/>
              <a:ext cx="17145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9050" lIns="19050" spcFirstLastPara="1" rIns="19050" wrap="square" tIns="190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950">
                  <a:solidFill>
                    <a:srgbClr val="06B6D4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Core project focus</a:t>
              </a:r>
              <a:endParaRPr b="1" sz="950">
                <a:solidFill>
                  <a:srgbClr val="06B6D4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184" name="Google Shape;184;g3f943fda256_0_3160"/>
          <p:cNvGrpSpPr/>
          <p:nvPr/>
        </p:nvGrpSpPr>
        <p:grpSpPr>
          <a:xfrm>
            <a:off x="504825" y="3848100"/>
            <a:ext cx="8181975" cy="342900"/>
            <a:chOff x="504825" y="3848100"/>
            <a:chExt cx="8181975" cy="342900"/>
          </a:xfrm>
        </p:grpSpPr>
        <p:sp>
          <p:nvSpPr>
            <p:cNvPr id="185" name="Google Shape;185;g3f943fda256_0_3160"/>
            <p:cNvSpPr txBox="1"/>
            <p:nvPr/>
          </p:nvSpPr>
          <p:spPr>
            <a:xfrm>
              <a:off x="504825" y="3848100"/>
              <a:ext cx="17049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47625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1E3A8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Cross-Device Correlation</a:t>
              </a:r>
              <a:endParaRPr b="1" sz="1000">
                <a:solidFill>
                  <a:srgbClr val="1E3A8A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86" name="Google Shape;186;g3f943fda256_0_3160"/>
            <p:cNvSpPr txBox="1"/>
            <p:nvPr/>
          </p:nvSpPr>
          <p:spPr>
            <a:xfrm>
              <a:off x="2257425" y="3848100"/>
              <a:ext cx="15240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9050" lIns="19050" spcFirstLastPara="1" rIns="19050" wrap="square" tIns="190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>
                  <a:solidFill>
                    <a:srgbClr val="3333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Enterprise correlation</a:t>
              </a:r>
              <a:endParaRPr sz="9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87" name="Google Shape;187;g3f943fda256_0_3160"/>
            <p:cNvSpPr txBox="1"/>
            <p:nvPr/>
          </p:nvSpPr>
          <p:spPr>
            <a:xfrm>
              <a:off x="3829050" y="3848100"/>
              <a:ext cx="15240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9050" lIns="19050" spcFirstLastPara="1" rIns="19050" wrap="square" tIns="190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>
                  <a:solidFill>
                    <a:srgbClr val="3333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Device/fleet-oriented</a:t>
              </a:r>
              <a:endParaRPr sz="9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88" name="Google Shape;188;g3f943fda256_0_3160"/>
            <p:cNvSpPr txBox="1"/>
            <p:nvPr/>
          </p:nvSpPr>
          <p:spPr>
            <a:xfrm>
              <a:off x="5400675" y="3848100"/>
              <a:ext cx="15240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9050" lIns="19050" spcFirstLastPara="1" rIns="19050" wrap="square" tIns="190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>
                  <a:solidFill>
                    <a:srgbClr val="3333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Broad event correlation</a:t>
              </a:r>
              <a:endParaRPr sz="9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89" name="Google Shape;189;g3f943fda256_0_3160"/>
            <p:cNvSpPr txBox="1"/>
            <p:nvPr/>
          </p:nvSpPr>
          <p:spPr>
            <a:xfrm>
              <a:off x="6972300" y="3848100"/>
              <a:ext cx="17145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9050" lIns="19050" spcFirstLastPara="1" rIns="19050" wrap="square" tIns="190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95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IoT-focused correlation</a:t>
              </a:r>
              <a:endParaRPr b="1" sz="95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190" name="Google Shape;190;g3f943fda256_0_3160"/>
          <p:cNvGrpSpPr/>
          <p:nvPr/>
        </p:nvGrpSpPr>
        <p:grpSpPr>
          <a:xfrm>
            <a:off x="504825" y="4219575"/>
            <a:ext cx="8181975" cy="342900"/>
            <a:chOff x="504825" y="4219575"/>
            <a:chExt cx="8181975" cy="342900"/>
          </a:xfrm>
        </p:grpSpPr>
        <p:sp>
          <p:nvSpPr>
            <p:cNvPr id="191" name="Google Shape;191;g3f943fda256_0_3160"/>
            <p:cNvSpPr txBox="1"/>
            <p:nvPr/>
          </p:nvSpPr>
          <p:spPr>
            <a:xfrm>
              <a:off x="504825" y="4219575"/>
              <a:ext cx="17049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47625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1E3A8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AI Investigation</a:t>
              </a:r>
              <a:endParaRPr b="1" sz="1000">
                <a:solidFill>
                  <a:srgbClr val="1E3A8A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92" name="Google Shape;192;g3f943fda256_0_3160"/>
            <p:cNvSpPr txBox="1"/>
            <p:nvPr/>
          </p:nvSpPr>
          <p:spPr>
            <a:xfrm>
              <a:off x="2257425" y="4219575"/>
              <a:ext cx="15240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9050" lIns="19050" spcFirstLastPara="1" rIns="19050" wrap="square" tIns="190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>
                  <a:solidFill>
                    <a:srgbClr val="3333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Platform-specific</a:t>
              </a:r>
              <a:endParaRPr sz="9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93" name="Google Shape;193;g3f943fda256_0_3160"/>
            <p:cNvSpPr txBox="1"/>
            <p:nvPr/>
          </p:nvSpPr>
          <p:spPr>
            <a:xfrm>
              <a:off x="3829050" y="4219575"/>
              <a:ext cx="15240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9050" lIns="19050" spcFirstLastPara="1" rIns="19050" wrap="square" tIns="190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>
                  <a:solidFill>
                    <a:srgbClr val="3333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Not primary focus</a:t>
              </a:r>
              <a:endParaRPr sz="9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94" name="Google Shape;194;g3f943fda256_0_3160"/>
            <p:cNvSpPr txBox="1"/>
            <p:nvPr/>
          </p:nvSpPr>
          <p:spPr>
            <a:xfrm>
              <a:off x="5400675" y="4219575"/>
              <a:ext cx="15240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9050" lIns="19050" spcFirstLastPara="1" rIns="19050" wrap="square" tIns="190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>
                  <a:solidFill>
                    <a:srgbClr val="3333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Product-dependent</a:t>
              </a:r>
              <a:endParaRPr sz="9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95" name="Google Shape;195;g3f943fda256_0_3160"/>
            <p:cNvSpPr txBox="1"/>
            <p:nvPr/>
          </p:nvSpPr>
          <p:spPr>
            <a:xfrm>
              <a:off x="6972300" y="4219575"/>
              <a:ext cx="17145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9050" lIns="19050" spcFirstLastPara="1" rIns="19050" wrap="square" tIns="190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850">
                  <a:solidFill>
                    <a:srgbClr val="06B6D4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Planned local evidence-grounded Qwen assistant</a:t>
              </a:r>
              <a:endParaRPr b="1" sz="850">
                <a:solidFill>
                  <a:srgbClr val="06B6D4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196" name="Google Shape;196;g3f943fda256_0_3160"/>
          <p:cNvGrpSpPr/>
          <p:nvPr/>
        </p:nvGrpSpPr>
        <p:grpSpPr>
          <a:xfrm>
            <a:off x="504825" y="4591050"/>
            <a:ext cx="8181975" cy="342900"/>
            <a:chOff x="504825" y="4591050"/>
            <a:chExt cx="8181975" cy="342900"/>
          </a:xfrm>
        </p:grpSpPr>
        <p:sp>
          <p:nvSpPr>
            <p:cNvPr id="197" name="Google Shape;197;g3f943fda256_0_3160"/>
            <p:cNvSpPr txBox="1"/>
            <p:nvPr/>
          </p:nvSpPr>
          <p:spPr>
            <a:xfrm>
              <a:off x="504825" y="4591050"/>
              <a:ext cx="17049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47625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1E3A8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Primary Scope</a:t>
              </a:r>
              <a:endParaRPr b="1" sz="1000">
                <a:solidFill>
                  <a:srgbClr val="1E3A8A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98" name="Google Shape;198;g3f943fda256_0_3160"/>
            <p:cNvSpPr txBox="1"/>
            <p:nvPr/>
          </p:nvSpPr>
          <p:spPr>
            <a:xfrm>
              <a:off x="2257425" y="4591050"/>
              <a:ext cx="15240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9050" lIns="19050" spcFirstLastPara="1" rIns="19050" wrap="square" tIns="190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>
                  <a:solidFill>
                    <a:srgbClr val="3333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Enterprise IoT/OT</a:t>
              </a:r>
              <a:endParaRPr sz="9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99" name="Google Shape;199;g3f943fda256_0_3160"/>
            <p:cNvSpPr txBox="1"/>
            <p:nvPr/>
          </p:nvSpPr>
          <p:spPr>
            <a:xfrm>
              <a:off x="3829050" y="4591050"/>
              <a:ext cx="15240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9050" lIns="19050" spcFirstLastPara="1" rIns="19050" wrap="square" tIns="190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>
                  <a:solidFill>
                    <a:srgbClr val="3333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AWS IoT environments</a:t>
              </a:r>
              <a:endParaRPr sz="9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00" name="Google Shape;200;g3f943fda256_0_3160"/>
            <p:cNvSpPr txBox="1"/>
            <p:nvPr/>
          </p:nvSpPr>
          <p:spPr>
            <a:xfrm>
              <a:off x="5400675" y="4591050"/>
              <a:ext cx="15240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9050" lIns="19050" spcFirstLastPara="1" rIns="19050" wrap="square" tIns="190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>
                  <a:solidFill>
                    <a:srgbClr val="3333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Enterprise SOC/SIEM</a:t>
              </a:r>
              <a:endParaRPr sz="9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01" name="Google Shape;201;g3f943fda256_0_3160"/>
            <p:cNvSpPr txBox="1"/>
            <p:nvPr/>
          </p:nvSpPr>
          <p:spPr>
            <a:xfrm>
              <a:off x="6972300" y="4591050"/>
              <a:ext cx="17145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9050" lIns="19050" spcFirstLastPara="1" rIns="19050" wrap="square" tIns="190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85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Academic smart-home IoT DFIR prototype</a:t>
              </a:r>
              <a:endParaRPr b="1" sz="85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202" name="Google Shape;202;g3f943fda256_0_3160"/>
          <p:cNvGrpSpPr/>
          <p:nvPr/>
        </p:nvGrpSpPr>
        <p:grpSpPr>
          <a:xfrm>
            <a:off x="457200" y="5095875"/>
            <a:ext cx="8229600" cy="904800"/>
            <a:chOff x="457200" y="5095875"/>
            <a:chExt cx="8229600" cy="904800"/>
          </a:xfrm>
        </p:grpSpPr>
        <p:sp>
          <p:nvSpPr>
            <p:cNvPr id="203" name="Google Shape;203;g3f943fda256_0_3160"/>
            <p:cNvSpPr/>
            <p:nvPr/>
          </p:nvSpPr>
          <p:spPr>
            <a:xfrm>
              <a:off x="457200" y="5095875"/>
              <a:ext cx="8229600" cy="904800"/>
            </a:xfrm>
            <a:prstGeom prst="roundRect">
              <a:avLst>
                <a:gd fmla="val 6315" name="adj"/>
              </a:avLst>
            </a:prstGeom>
            <a:solidFill>
              <a:srgbClr val="F1F5F9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" name="Google Shape;204;g3f943fda256_0_3160"/>
            <p:cNvSpPr txBox="1"/>
            <p:nvPr/>
          </p:nvSpPr>
          <p:spPr>
            <a:xfrm>
              <a:off x="457200" y="5095875"/>
              <a:ext cx="8229600" cy="9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5250" lIns="95250" spcFirstLastPara="1" rIns="95250" wrap="square" tIns="95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50">
                  <a:solidFill>
                    <a:srgbClr val="1E3A8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Research Positioning</a:t>
              </a:r>
              <a:endParaRPr b="1" sz="1250">
                <a:solidFill>
                  <a:srgbClr val="1E3A8A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ctr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0891B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Traceveil</a:t>
              </a:r>
              <a:r>
                <a:rPr b="0" lang="en-US" sz="1100">
                  <a:solidFill>
                    <a:srgbClr val="334155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focuses on unifying batch evidence + controlled live telemetry through one canonical event model and one deterministic forensic investigation pipeline.</a:t>
              </a:r>
              <a:endParaRPr b="0" sz="1100">
                <a:solidFill>
                  <a:srgbClr val="334155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f943fda256_0_14"/>
          <p:cNvSpPr txBox="1"/>
          <p:nvPr>
            <p:ph type="title"/>
          </p:nvPr>
        </p:nvSpPr>
        <p:spPr>
          <a:xfrm>
            <a:off x="457125" y="1210850"/>
            <a:ext cx="8229600" cy="914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>
                <a:solidFill>
                  <a:srgbClr val="1E3A8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Objectives &amp; Project Scope</a:t>
            </a:r>
            <a:endParaRPr b="1" i="0" sz="3200">
              <a:solidFill>
                <a:srgbClr val="1E3A8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211" name="Google Shape;211;g3f943fda256_0_14"/>
          <p:cNvGrpSpPr/>
          <p:nvPr/>
        </p:nvGrpSpPr>
        <p:grpSpPr>
          <a:xfrm>
            <a:off x="457125" y="2125250"/>
            <a:ext cx="8229750" cy="3571800"/>
            <a:chOff x="457200" y="1762125"/>
            <a:chExt cx="8229750" cy="3571800"/>
          </a:xfrm>
        </p:grpSpPr>
        <p:sp>
          <p:nvSpPr>
            <p:cNvPr id="212" name="Google Shape;212;g3f943fda256_0_14"/>
            <p:cNvSpPr/>
            <p:nvPr/>
          </p:nvSpPr>
          <p:spPr>
            <a:xfrm>
              <a:off x="457200" y="1762125"/>
              <a:ext cx="2571900" cy="3571800"/>
            </a:xfrm>
            <a:prstGeom prst="roundRect">
              <a:avLst>
                <a:gd fmla="val 2962" name="adj"/>
              </a:avLst>
            </a:prstGeom>
            <a:solidFill>
              <a:srgbClr val="F8FAFC"/>
            </a:solidFill>
            <a:ln cap="flat" cmpd="sng" w="14300">
              <a:solidFill>
                <a:srgbClr val="1E3A8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" name="Google Shape;213;g3f943fda256_0_14"/>
            <p:cNvSpPr txBox="1"/>
            <p:nvPr/>
          </p:nvSpPr>
          <p:spPr>
            <a:xfrm>
              <a:off x="457200" y="1762125"/>
              <a:ext cx="2571900" cy="3571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71450" lIns="171450" spcFirstLastPara="1" rIns="171450" wrap="square" tIns="17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1E3A8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Objectives</a:t>
              </a:r>
              <a:endParaRPr b="1" sz="1600">
                <a:solidFill>
                  <a:srgbClr val="1E3A8A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280988" lvl="0" marL="457200" rtl="0" algn="l">
                <a:spcBef>
                  <a:spcPts val="750"/>
                </a:spcBef>
                <a:spcAft>
                  <a:spcPts val="0"/>
                </a:spcAft>
                <a:buClr>
                  <a:srgbClr val="333333"/>
                </a:buClr>
                <a:buSzPts val="825"/>
                <a:buFont typeface="Times New Roman"/>
                <a:buChar char="●"/>
              </a:pPr>
              <a:r>
                <a:rPr lang="en-US" sz="825">
                  <a:solidFill>
                    <a:srgbClr val="3333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Ingest public datasets &amp; uploaded evidence</a:t>
              </a:r>
              <a:endParaRPr sz="825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280988" lvl="0" marL="457200" rtl="0" algn="l">
                <a:spcBef>
                  <a:spcPts val="525"/>
                </a:spcBef>
                <a:spcAft>
                  <a:spcPts val="0"/>
                </a:spcAft>
                <a:buClr>
                  <a:srgbClr val="333333"/>
                </a:buClr>
                <a:buSzPts val="825"/>
                <a:buFont typeface="Times New Roman"/>
                <a:buChar char="●"/>
              </a:pPr>
              <a:r>
                <a:rPr lang="en-US" sz="825">
                  <a:solidFill>
                    <a:srgbClr val="3333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Receive controlled live IoT telemetry</a:t>
              </a:r>
              <a:endParaRPr sz="825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280988" lvl="0" marL="457200" rtl="0" algn="l">
                <a:spcBef>
                  <a:spcPts val="525"/>
                </a:spcBef>
                <a:spcAft>
                  <a:spcPts val="0"/>
                </a:spcAft>
                <a:buClr>
                  <a:srgbClr val="333333"/>
                </a:buClr>
                <a:buSzPts val="825"/>
                <a:buFont typeface="Times New Roman"/>
                <a:buChar char="●"/>
              </a:pPr>
              <a:r>
                <a:rPr lang="en-US" sz="825">
                  <a:solidFill>
                    <a:srgbClr val="3333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Validate &amp; normalize accepted records</a:t>
              </a:r>
              <a:endParaRPr sz="825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280988" lvl="0" marL="457200" rtl="0" algn="l">
                <a:spcBef>
                  <a:spcPts val="525"/>
                </a:spcBef>
                <a:spcAft>
                  <a:spcPts val="0"/>
                </a:spcAft>
                <a:buClr>
                  <a:srgbClr val="333333"/>
                </a:buClr>
                <a:buSzPts val="825"/>
                <a:buFont typeface="Times New Roman"/>
                <a:buChar char="●"/>
              </a:pPr>
              <a:r>
                <a:rPr lang="en-US" sz="825">
                  <a:solidFill>
                    <a:srgbClr val="3333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Preserve source &amp; device provenance</a:t>
              </a:r>
              <a:endParaRPr sz="825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280988" lvl="0" marL="457200" rtl="0" algn="l">
                <a:spcBef>
                  <a:spcPts val="525"/>
                </a:spcBef>
                <a:spcAft>
                  <a:spcPts val="0"/>
                </a:spcAft>
                <a:buClr>
                  <a:srgbClr val="333333"/>
                </a:buClr>
                <a:buSzPts val="825"/>
                <a:buFont typeface="Times New Roman"/>
                <a:buChar char="●"/>
              </a:pPr>
              <a:r>
                <a:rPr lang="en-US" sz="825">
                  <a:solidFill>
                    <a:srgbClr val="3333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Apply rules &amp; behavioral baselines</a:t>
              </a:r>
              <a:endParaRPr sz="825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280988" lvl="0" marL="457200" rtl="0" algn="l">
                <a:spcBef>
                  <a:spcPts val="525"/>
                </a:spcBef>
                <a:spcAft>
                  <a:spcPts val="0"/>
                </a:spcAft>
                <a:buClr>
                  <a:srgbClr val="333333"/>
                </a:buClr>
                <a:buSzPts val="825"/>
                <a:buFont typeface="Times New Roman"/>
                <a:buChar char="●"/>
              </a:pPr>
              <a:r>
                <a:rPr lang="en-US" sz="825">
                  <a:solidFill>
                    <a:srgbClr val="3333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Calculate bounded risk scores</a:t>
              </a:r>
              <a:endParaRPr sz="825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280988" lvl="0" marL="457200" rtl="0" algn="l">
                <a:spcBef>
                  <a:spcPts val="525"/>
                </a:spcBef>
                <a:spcAft>
                  <a:spcPts val="0"/>
                </a:spcAft>
                <a:buClr>
                  <a:srgbClr val="333333"/>
                </a:buClr>
                <a:buSzPts val="825"/>
                <a:buFont typeface="Times New Roman"/>
                <a:buChar char="●"/>
              </a:pPr>
              <a:r>
                <a:rPr lang="en-US" sz="825">
                  <a:solidFill>
                    <a:srgbClr val="3333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Correlate events &amp; reconstruct timelines</a:t>
              </a:r>
              <a:endParaRPr sz="825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280988" lvl="0" marL="457200" rtl="0" algn="l">
                <a:spcBef>
                  <a:spcPts val="525"/>
                </a:spcBef>
                <a:spcAft>
                  <a:spcPts val="0"/>
                </a:spcAft>
                <a:buClr>
                  <a:srgbClr val="333333"/>
                </a:buClr>
                <a:buSzPts val="825"/>
                <a:buFont typeface="Times New Roman"/>
                <a:buChar char="●"/>
              </a:pPr>
              <a:r>
                <a:rPr lang="en-US" sz="825">
                  <a:solidFill>
                    <a:srgbClr val="3333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Generate charts &amp; entity relationships</a:t>
              </a:r>
              <a:endParaRPr sz="825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280988" lvl="0" marL="457200" rtl="0" algn="l">
                <a:spcBef>
                  <a:spcPts val="525"/>
                </a:spcBef>
                <a:spcAft>
                  <a:spcPts val="0"/>
                </a:spcAft>
                <a:buClr>
                  <a:srgbClr val="333333"/>
                </a:buClr>
                <a:buSzPts val="825"/>
                <a:buFont typeface="Times New Roman"/>
                <a:buChar char="●"/>
              </a:pPr>
              <a:r>
                <a:rPr lang="en-US" sz="825">
                  <a:solidFill>
                    <a:srgbClr val="3333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Provide AI-assisted investigation</a:t>
              </a:r>
              <a:endParaRPr sz="825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14" name="Google Shape;214;g3f943fda256_0_14"/>
            <p:cNvSpPr/>
            <p:nvPr/>
          </p:nvSpPr>
          <p:spPr>
            <a:xfrm>
              <a:off x="3286125" y="1762125"/>
              <a:ext cx="2571900" cy="3571800"/>
            </a:xfrm>
            <a:prstGeom prst="roundRect">
              <a:avLst>
                <a:gd fmla="val 2962" name="adj"/>
              </a:avLst>
            </a:prstGeom>
            <a:solidFill>
              <a:srgbClr val="F8FAFC"/>
            </a:solidFill>
            <a:ln cap="flat" cmpd="sng" w="14300">
              <a:solidFill>
                <a:srgbClr val="1E3A8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" name="Google Shape;215;g3f943fda256_0_14"/>
            <p:cNvSpPr txBox="1"/>
            <p:nvPr/>
          </p:nvSpPr>
          <p:spPr>
            <a:xfrm>
              <a:off x="3286125" y="1762125"/>
              <a:ext cx="2571900" cy="3571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71450" lIns="171450" spcFirstLastPara="1" rIns="171450" wrap="square" tIns="17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06B6D4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In Scope</a:t>
              </a:r>
              <a:endParaRPr b="1" sz="1600">
                <a:solidFill>
                  <a:srgbClr val="06B6D4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280988" lvl="0" marL="457200" rtl="0" algn="l">
                <a:spcBef>
                  <a:spcPts val="750"/>
                </a:spcBef>
                <a:spcAft>
                  <a:spcPts val="0"/>
                </a:spcAft>
                <a:buClr>
                  <a:srgbClr val="333333"/>
                </a:buClr>
                <a:buSzPts val="825"/>
                <a:buFont typeface="Times New Roman"/>
                <a:buChar char="●"/>
              </a:pPr>
              <a:r>
                <a:rPr lang="en-US" sz="825">
                  <a:solidFill>
                    <a:srgbClr val="3333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TON_IoT and CICIoT2023</a:t>
              </a:r>
              <a:endParaRPr sz="825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280988" lvl="0" marL="457200" rtl="0" algn="l">
                <a:spcBef>
                  <a:spcPts val="675"/>
                </a:spcBef>
                <a:spcAft>
                  <a:spcPts val="0"/>
                </a:spcAft>
                <a:buClr>
                  <a:srgbClr val="333333"/>
                </a:buClr>
                <a:buSzPts val="825"/>
                <a:buFont typeface="Times New Roman"/>
                <a:buChar char="●"/>
              </a:pPr>
              <a:r>
                <a:rPr lang="en-US" sz="825">
                  <a:solidFill>
                    <a:srgbClr val="3333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Simulated forensic cases</a:t>
              </a:r>
              <a:endParaRPr sz="825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280988" lvl="0" marL="457200" rtl="0" algn="l">
                <a:spcBef>
                  <a:spcPts val="675"/>
                </a:spcBef>
                <a:spcAft>
                  <a:spcPts val="0"/>
                </a:spcAft>
                <a:buClr>
                  <a:srgbClr val="333333"/>
                </a:buClr>
                <a:buSzPts val="825"/>
                <a:buFont typeface="Times New Roman"/>
                <a:buChar char="●"/>
              </a:pPr>
              <a:r>
                <a:rPr lang="en-US" sz="825">
                  <a:solidFill>
                    <a:srgbClr val="3333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Controlled laboratory IoT telemetry</a:t>
              </a:r>
              <a:endParaRPr sz="825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280988" lvl="0" marL="457200" rtl="0" algn="l">
                <a:spcBef>
                  <a:spcPts val="675"/>
                </a:spcBef>
                <a:spcAft>
                  <a:spcPts val="0"/>
                </a:spcAft>
                <a:buClr>
                  <a:srgbClr val="333333"/>
                </a:buClr>
                <a:buSzPts val="825"/>
                <a:buFont typeface="Times New Roman"/>
                <a:buChar char="●"/>
              </a:pPr>
              <a:r>
                <a:rPr lang="en-US" sz="825">
                  <a:solidFill>
                    <a:srgbClr val="3333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Arduino-compatible telemetry source</a:t>
              </a:r>
              <a:endParaRPr sz="825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280988" lvl="0" marL="457200" rtl="0" algn="l">
                <a:spcBef>
                  <a:spcPts val="675"/>
                </a:spcBef>
                <a:spcAft>
                  <a:spcPts val="0"/>
                </a:spcAft>
                <a:buClr>
                  <a:srgbClr val="333333"/>
                </a:buClr>
                <a:buSzPts val="825"/>
                <a:buFont typeface="Times New Roman"/>
                <a:buChar char="●"/>
              </a:pPr>
              <a:r>
                <a:rPr lang="en-US" sz="825">
                  <a:solidFill>
                    <a:srgbClr val="3333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React investigation dashboard</a:t>
              </a:r>
              <a:endParaRPr sz="825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280988" lvl="0" marL="457200" rtl="0" algn="l">
                <a:spcBef>
                  <a:spcPts val="675"/>
                </a:spcBef>
                <a:spcAft>
                  <a:spcPts val="0"/>
                </a:spcAft>
                <a:buClr>
                  <a:srgbClr val="333333"/>
                </a:buClr>
                <a:buSzPts val="825"/>
                <a:buFont typeface="Times New Roman"/>
                <a:buChar char="●"/>
              </a:pPr>
              <a:r>
                <a:rPr lang="en-US" sz="825">
                  <a:solidFill>
                    <a:srgbClr val="3333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Local Qwen assistance</a:t>
              </a:r>
              <a:endParaRPr sz="825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280988" lvl="0" marL="457200" rtl="0" algn="l">
                <a:spcBef>
                  <a:spcPts val="675"/>
                </a:spcBef>
                <a:spcAft>
                  <a:spcPts val="0"/>
                </a:spcAft>
                <a:buClr>
                  <a:srgbClr val="333333"/>
                </a:buClr>
                <a:buSzPts val="825"/>
                <a:buFont typeface="Times New Roman"/>
                <a:buChar char="●"/>
              </a:pPr>
              <a:r>
                <a:rPr lang="en-US" sz="825">
                  <a:solidFill>
                    <a:srgbClr val="3333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SQLite case history</a:t>
              </a:r>
              <a:endParaRPr sz="825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280988" lvl="0" marL="457200" rtl="0" algn="l">
                <a:spcBef>
                  <a:spcPts val="675"/>
                </a:spcBef>
                <a:spcAft>
                  <a:spcPts val="0"/>
                </a:spcAft>
                <a:buClr>
                  <a:srgbClr val="333333"/>
                </a:buClr>
                <a:buSzPts val="825"/>
                <a:buFont typeface="Times New Roman"/>
                <a:buChar char="●"/>
              </a:pPr>
              <a:r>
                <a:rPr lang="en-US" sz="825">
                  <a:solidFill>
                    <a:srgbClr val="3333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Investigator-approved alerts &amp; reports</a:t>
              </a:r>
              <a:endParaRPr sz="825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16" name="Google Shape;216;g3f943fda256_0_14"/>
            <p:cNvSpPr/>
            <p:nvPr/>
          </p:nvSpPr>
          <p:spPr>
            <a:xfrm>
              <a:off x="6115050" y="1762125"/>
              <a:ext cx="2571900" cy="3571800"/>
            </a:xfrm>
            <a:prstGeom prst="roundRect">
              <a:avLst>
                <a:gd fmla="val 2962" name="adj"/>
              </a:avLst>
            </a:prstGeom>
            <a:solidFill>
              <a:srgbClr val="F8FAFC"/>
            </a:solidFill>
            <a:ln cap="flat" cmpd="sng" w="14300">
              <a:solidFill>
                <a:srgbClr val="1E3A8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" name="Google Shape;217;g3f943fda256_0_14"/>
            <p:cNvSpPr txBox="1"/>
            <p:nvPr/>
          </p:nvSpPr>
          <p:spPr>
            <a:xfrm>
              <a:off x="6115050" y="1762125"/>
              <a:ext cx="2571900" cy="3571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71450" lIns="171450" spcFirstLastPara="1" rIns="171450" wrap="square" tIns="171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DC2626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Out of Scope</a:t>
              </a:r>
              <a:endParaRPr b="1" sz="1600">
                <a:solidFill>
                  <a:srgbClr val="DC2626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280988" lvl="0" marL="457200" rtl="0" algn="l">
                <a:spcBef>
                  <a:spcPts val="750"/>
                </a:spcBef>
                <a:spcAft>
                  <a:spcPts val="0"/>
                </a:spcAft>
                <a:buClr>
                  <a:srgbClr val="666666"/>
                </a:buClr>
                <a:buSzPts val="825"/>
                <a:buFont typeface="Times New Roman"/>
                <a:buChar char="●"/>
              </a:pPr>
              <a:r>
                <a:rPr lang="en-US" sz="825">
                  <a:solidFill>
                    <a:srgbClr val="666666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Unauthorized device access</a:t>
              </a:r>
              <a:endParaRPr sz="825">
                <a:solidFill>
                  <a:srgbClr val="666666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280988" lvl="0" marL="457200" rtl="0" algn="l">
                <a:spcBef>
                  <a:spcPts val="750"/>
                </a:spcBef>
                <a:spcAft>
                  <a:spcPts val="0"/>
                </a:spcAft>
                <a:buClr>
                  <a:srgbClr val="666666"/>
                </a:buClr>
                <a:buSzPts val="825"/>
                <a:buFont typeface="Times New Roman"/>
                <a:buChar char="●"/>
              </a:pPr>
              <a:r>
                <a:rPr lang="en-US" sz="825">
                  <a:solidFill>
                    <a:srgbClr val="666666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Arbitrary network interception</a:t>
              </a:r>
              <a:endParaRPr sz="825">
                <a:solidFill>
                  <a:srgbClr val="666666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280988" lvl="0" marL="457200" rtl="0" algn="l">
                <a:spcBef>
                  <a:spcPts val="750"/>
                </a:spcBef>
                <a:spcAft>
                  <a:spcPts val="0"/>
                </a:spcAft>
                <a:buClr>
                  <a:srgbClr val="666666"/>
                </a:buClr>
                <a:buSzPts val="825"/>
                <a:buFont typeface="Times New Roman"/>
                <a:buChar char="●"/>
              </a:pPr>
              <a:r>
                <a:rPr lang="en-US" sz="825">
                  <a:solidFill>
                    <a:srgbClr val="666666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Production-scale monitoring</a:t>
              </a:r>
              <a:endParaRPr sz="825">
                <a:solidFill>
                  <a:srgbClr val="666666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280988" lvl="0" marL="457200" rtl="0" algn="l">
                <a:spcBef>
                  <a:spcPts val="750"/>
                </a:spcBef>
                <a:spcAft>
                  <a:spcPts val="0"/>
                </a:spcAft>
                <a:buClr>
                  <a:srgbClr val="666666"/>
                </a:buClr>
                <a:buSzPts val="825"/>
                <a:buFont typeface="Times New Roman"/>
                <a:buChar char="●"/>
              </a:pPr>
              <a:r>
                <a:rPr lang="en-US" sz="825">
                  <a:solidFill>
                    <a:srgbClr val="666666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Autonomous containment</a:t>
              </a:r>
              <a:endParaRPr sz="825">
                <a:solidFill>
                  <a:srgbClr val="666666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280988" lvl="0" marL="457200" rtl="0" algn="l">
                <a:spcBef>
                  <a:spcPts val="750"/>
                </a:spcBef>
                <a:spcAft>
                  <a:spcPts val="0"/>
                </a:spcAft>
                <a:buClr>
                  <a:srgbClr val="666666"/>
                </a:buClr>
                <a:buSzPts val="825"/>
                <a:buFont typeface="Times New Roman"/>
                <a:buChar char="●"/>
              </a:pPr>
              <a:r>
                <a:rPr lang="en-US" sz="825">
                  <a:solidFill>
                    <a:srgbClr val="666666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Attack execution</a:t>
              </a:r>
              <a:endParaRPr sz="825">
                <a:solidFill>
                  <a:srgbClr val="666666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280988" lvl="0" marL="457200" rtl="0" algn="l">
                <a:spcBef>
                  <a:spcPts val="750"/>
                </a:spcBef>
                <a:spcAft>
                  <a:spcPts val="0"/>
                </a:spcAft>
                <a:buClr>
                  <a:srgbClr val="666666"/>
                </a:buClr>
                <a:buSzPts val="825"/>
                <a:buFont typeface="Times New Roman"/>
                <a:buChar char="●"/>
              </a:pPr>
              <a:r>
                <a:rPr lang="en-US" sz="825">
                  <a:solidFill>
                    <a:srgbClr val="666666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Legal-admissibility claims</a:t>
              </a:r>
              <a:endParaRPr sz="825">
                <a:solidFill>
                  <a:srgbClr val="666666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280988" lvl="0" marL="457200" rtl="0" algn="l">
                <a:spcBef>
                  <a:spcPts val="750"/>
                </a:spcBef>
                <a:spcAft>
                  <a:spcPts val="0"/>
                </a:spcAft>
                <a:buClr>
                  <a:srgbClr val="666666"/>
                </a:buClr>
                <a:buSzPts val="825"/>
                <a:buFont typeface="Times New Roman"/>
                <a:buChar char="●"/>
              </a:pPr>
              <a:r>
                <a:rPr lang="en-US" sz="825">
                  <a:solidFill>
                    <a:srgbClr val="666666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Replacement of enterprise platforms</a:t>
              </a:r>
              <a:endParaRPr sz="825">
                <a:solidFill>
                  <a:srgbClr val="666666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218" name="Google Shape;218;g3f943fda256_0_14"/>
          <p:cNvSpPr txBox="1"/>
          <p:nvPr>
            <p:ph idx="12" type="sldNum"/>
          </p:nvPr>
        </p:nvSpPr>
        <p:spPr>
          <a:xfrm>
            <a:off x="6553200" y="6373546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219" name="Google Shape;219;g3f943fda256_0_14"/>
          <p:cNvGrpSpPr/>
          <p:nvPr/>
        </p:nvGrpSpPr>
        <p:grpSpPr>
          <a:xfrm>
            <a:off x="457125" y="5935250"/>
            <a:ext cx="8229600" cy="438300"/>
            <a:chOff x="457200" y="5572125"/>
            <a:chExt cx="8229600" cy="438300"/>
          </a:xfrm>
        </p:grpSpPr>
        <p:sp>
          <p:nvSpPr>
            <p:cNvPr id="220" name="Google Shape;220;g3f943fda256_0_14"/>
            <p:cNvSpPr/>
            <p:nvPr/>
          </p:nvSpPr>
          <p:spPr>
            <a:xfrm>
              <a:off x="457200" y="5572125"/>
              <a:ext cx="8229600" cy="438300"/>
            </a:xfrm>
            <a:prstGeom prst="roundRect">
              <a:avLst>
                <a:gd fmla="val 50000" name="adj"/>
              </a:avLst>
            </a:prstGeom>
            <a:solidFill>
              <a:srgbClr val="F8FAFC"/>
            </a:solidFill>
            <a:ln cap="flat" cmpd="sng" w="14300">
              <a:solidFill>
                <a:srgbClr val="06B6D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" name="Google Shape;221;g3f943fda256_0_14"/>
            <p:cNvSpPr txBox="1"/>
            <p:nvPr/>
          </p:nvSpPr>
          <p:spPr>
            <a:xfrm>
              <a:off x="457200" y="5572125"/>
              <a:ext cx="8229600" cy="43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50">
                  <a:solidFill>
                    <a:srgbClr val="1E3A8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Acquire </a:t>
              </a:r>
              <a:r>
                <a:rPr b="1" lang="en-US" sz="1250">
                  <a:solidFill>
                    <a:srgbClr val="06B6D4"/>
                  </a:solidFill>
                  <a:latin typeface="Arial"/>
                  <a:ea typeface="Arial"/>
                  <a:cs typeface="Arial"/>
                  <a:sym typeface="Arial"/>
                </a:rPr>
                <a:t>➔</a:t>
              </a:r>
              <a:r>
                <a:rPr b="1" lang="en-US" sz="1250">
                  <a:solidFill>
                    <a:srgbClr val="1E3A8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Validate </a:t>
              </a:r>
              <a:r>
                <a:rPr b="1" lang="en-US" sz="1250">
                  <a:solidFill>
                    <a:srgbClr val="06B6D4"/>
                  </a:solidFill>
                  <a:latin typeface="Arial"/>
                  <a:ea typeface="Arial"/>
                  <a:cs typeface="Arial"/>
                  <a:sym typeface="Arial"/>
                </a:rPr>
                <a:t>➔</a:t>
              </a:r>
              <a:r>
                <a:rPr b="1" lang="en-US" sz="1250">
                  <a:solidFill>
                    <a:srgbClr val="1E3A8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Normalize </a:t>
              </a:r>
              <a:r>
                <a:rPr b="1" lang="en-US" sz="1250">
                  <a:solidFill>
                    <a:srgbClr val="06B6D4"/>
                  </a:solidFill>
                  <a:latin typeface="Arial"/>
                  <a:ea typeface="Arial"/>
                  <a:cs typeface="Arial"/>
                  <a:sym typeface="Arial"/>
                </a:rPr>
                <a:t>➔</a:t>
              </a:r>
              <a:r>
                <a:rPr b="1" lang="en-US" sz="1250">
                  <a:solidFill>
                    <a:srgbClr val="1E3A8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Analyse </a:t>
              </a:r>
              <a:r>
                <a:rPr b="1" lang="en-US" sz="1250">
                  <a:solidFill>
                    <a:srgbClr val="06B6D4"/>
                  </a:solidFill>
                  <a:latin typeface="Arial"/>
                  <a:ea typeface="Arial"/>
                  <a:cs typeface="Arial"/>
                  <a:sym typeface="Arial"/>
                </a:rPr>
                <a:t>➔</a:t>
              </a:r>
              <a:r>
                <a:rPr b="1" lang="en-US" sz="1250">
                  <a:solidFill>
                    <a:srgbClr val="1E3A8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Preserve </a:t>
              </a:r>
              <a:r>
                <a:rPr b="1" lang="en-US" sz="1250">
                  <a:solidFill>
                    <a:srgbClr val="06B6D4"/>
                  </a:solidFill>
                  <a:latin typeface="Arial"/>
                  <a:ea typeface="Arial"/>
                  <a:cs typeface="Arial"/>
                  <a:sym typeface="Arial"/>
                </a:rPr>
                <a:t>➔</a:t>
              </a:r>
              <a:r>
                <a:rPr b="1" lang="en-US" sz="1250">
                  <a:solidFill>
                    <a:srgbClr val="1E3A8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Deliver </a:t>
              </a:r>
              <a:r>
                <a:rPr b="1" lang="en-US" sz="1250">
                  <a:solidFill>
                    <a:srgbClr val="06B6D4"/>
                  </a:solidFill>
                  <a:latin typeface="Arial"/>
                  <a:ea typeface="Arial"/>
                  <a:cs typeface="Arial"/>
                  <a:sym typeface="Arial"/>
                </a:rPr>
                <a:t>➔</a:t>
              </a:r>
              <a:r>
                <a:rPr b="1" lang="en-US" sz="1250">
                  <a:solidFill>
                    <a:srgbClr val="1E3A8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Investigate</a:t>
              </a:r>
              <a:endParaRPr b="1" sz="1250">
                <a:solidFill>
                  <a:srgbClr val="1E3A8A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7" name="Google Shape;227;g3f943fda256_0_21"/>
          <p:cNvGrpSpPr/>
          <p:nvPr/>
        </p:nvGrpSpPr>
        <p:grpSpPr>
          <a:xfrm>
            <a:off x="457200" y="1143000"/>
            <a:ext cx="8229600" cy="780775"/>
            <a:chOff x="457200" y="1143000"/>
            <a:chExt cx="8229600" cy="780775"/>
          </a:xfrm>
        </p:grpSpPr>
        <p:sp>
          <p:nvSpPr>
            <p:cNvPr id="228" name="Google Shape;228;g3f943fda256_0_21"/>
            <p:cNvSpPr/>
            <p:nvPr/>
          </p:nvSpPr>
          <p:spPr>
            <a:xfrm>
              <a:off x="457200" y="1143000"/>
              <a:ext cx="8229600" cy="571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" name="Google Shape;229;g3f943fda256_0_21"/>
            <p:cNvSpPr txBox="1"/>
            <p:nvPr/>
          </p:nvSpPr>
          <p:spPr>
            <a:xfrm>
              <a:off x="457200" y="1352275"/>
              <a:ext cx="82296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800">
                  <a:solidFill>
                    <a:srgbClr val="1E3A8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Proposed System Architecture</a:t>
              </a:r>
              <a:endParaRPr b="1" sz="2800">
                <a:solidFill>
                  <a:srgbClr val="1E3A8A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230" name="Google Shape;230;g3f943fda256_0_21"/>
          <p:cNvSpPr txBox="1"/>
          <p:nvPr>
            <p:ph idx="12" type="sldNum"/>
          </p:nvPr>
        </p:nvSpPr>
        <p:spPr>
          <a:xfrm>
            <a:off x="6496050" y="6566721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231" name="Google Shape;231;g3f943fda256_0_21"/>
          <p:cNvGrpSpPr/>
          <p:nvPr/>
        </p:nvGrpSpPr>
        <p:grpSpPr>
          <a:xfrm>
            <a:off x="514350" y="2002925"/>
            <a:ext cx="7953375" cy="4381350"/>
            <a:chOff x="571500" y="1809750"/>
            <a:chExt cx="7953375" cy="4381350"/>
          </a:xfrm>
        </p:grpSpPr>
        <p:sp>
          <p:nvSpPr>
            <p:cNvPr id="232" name="Google Shape;232;g3f943fda256_0_21"/>
            <p:cNvSpPr/>
            <p:nvPr/>
          </p:nvSpPr>
          <p:spPr>
            <a:xfrm>
              <a:off x="571500" y="1809750"/>
              <a:ext cx="1809600" cy="1238400"/>
            </a:xfrm>
            <a:prstGeom prst="roundRect">
              <a:avLst>
                <a:gd fmla="val 6153" name="adj"/>
              </a:avLst>
            </a:prstGeom>
            <a:solidFill>
              <a:srgbClr val="F8FAFC"/>
            </a:solidFill>
            <a:ln cap="flat" cmpd="sng" w="14300">
              <a:solidFill>
                <a:srgbClr val="1E3A8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" name="Google Shape;233;g3f943fda256_0_21"/>
            <p:cNvSpPr txBox="1"/>
            <p:nvPr/>
          </p:nvSpPr>
          <p:spPr>
            <a:xfrm>
              <a:off x="571500" y="1809750"/>
              <a:ext cx="1809600" cy="123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14300" lIns="114300" spcFirstLastPara="1" rIns="114300" wrap="square" tIns="114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06B6D4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folder</a:t>
              </a:r>
              <a:r>
                <a:rPr b="1" lang="en-US" sz="1200">
                  <a:solidFill>
                    <a:srgbClr val="1E3A8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Batch Evidence</a:t>
              </a:r>
              <a:endParaRPr b="1" sz="1200">
                <a:solidFill>
                  <a:srgbClr val="1E3A8A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288925" lvl="0" marL="457200" rtl="0" algn="l">
                <a:spcBef>
                  <a:spcPts val="450"/>
                </a:spcBef>
                <a:spcAft>
                  <a:spcPts val="0"/>
                </a:spcAft>
                <a:buClr>
                  <a:srgbClr val="333333"/>
                </a:buClr>
                <a:buSzPts val="950"/>
                <a:buFont typeface="Times New Roman"/>
                <a:buChar char="●"/>
              </a:pPr>
              <a:r>
                <a:rPr lang="en-US" sz="950">
                  <a:solidFill>
                    <a:srgbClr val="3333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TON_IoT</a:t>
              </a:r>
              <a:endParaRPr sz="95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288925" lvl="0" marL="457200" rtl="0" algn="l">
                <a:spcBef>
                  <a:spcPts val="150"/>
                </a:spcBef>
                <a:spcAft>
                  <a:spcPts val="0"/>
                </a:spcAft>
                <a:buClr>
                  <a:srgbClr val="333333"/>
                </a:buClr>
                <a:buSzPts val="950"/>
                <a:buFont typeface="Times New Roman"/>
                <a:buChar char="●"/>
              </a:pPr>
              <a:r>
                <a:rPr lang="en-US" sz="950">
                  <a:solidFill>
                    <a:srgbClr val="3333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CICIoT2023</a:t>
              </a:r>
              <a:endParaRPr sz="95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288925" lvl="0" marL="457200" rtl="0" algn="l">
                <a:spcBef>
                  <a:spcPts val="150"/>
                </a:spcBef>
                <a:spcAft>
                  <a:spcPts val="0"/>
                </a:spcAft>
                <a:buClr>
                  <a:srgbClr val="333333"/>
                </a:buClr>
                <a:buSzPts val="950"/>
                <a:buFont typeface="Times New Roman"/>
                <a:buChar char="●"/>
              </a:pPr>
              <a:r>
                <a:rPr lang="en-US" sz="950">
                  <a:solidFill>
                    <a:srgbClr val="3333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Uploaded files</a:t>
              </a:r>
              <a:endParaRPr sz="95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288925" lvl="0" marL="457200" rtl="0" algn="l">
                <a:spcBef>
                  <a:spcPts val="150"/>
                </a:spcBef>
                <a:spcAft>
                  <a:spcPts val="0"/>
                </a:spcAft>
                <a:buClr>
                  <a:srgbClr val="333333"/>
                </a:buClr>
                <a:buSzPts val="950"/>
                <a:buFont typeface="Times New Roman"/>
                <a:buChar char="●"/>
              </a:pPr>
              <a:r>
                <a:rPr lang="en-US" sz="950">
                  <a:solidFill>
                    <a:srgbClr val="3333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Simulated cases</a:t>
              </a:r>
              <a:endParaRPr sz="95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4" name="Google Shape;234;g3f943fda256_0_21"/>
            <p:cNvSpPr/>
            <p:nvPr/>
          </p:nvSpPr>
          <p:spPr>
            <a:xfrm>
              <a:off x="2476500" y="1809750"/>
              <a:ext cx="1809600" cy="1238400"/>
            </a:xfrm>
            <a:prstGeom prst="roundRect">
              <a:avLst>
                <a:gd fmla="val 6153" name="adj"/>
              </a:avLst>
            </a:prstGeom>
            <a:solidFill>
              <a:srgbClr val="F8FAFC"/>
            </a:solidFill>
            <a:ln cap="flat" cmpd="sng" w="14300">
              <a:solidFill>
                <a:srgbClr val="1E3A8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" name="Google Shape;235;g3f943fda256_0_21"/>
            <p:cNvSpPr txBox="1"/>
            <p:nvPr/>
          </p:nvSpPr>
          <p:spPr>
            <a:xfrm>
              <a:off x="2476500" y="1809750"/>
              <a:ext cx="1809600" cy="123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14300" lIns="114300" spcFirstLastPara="1" rIns="114300" wrap="square" tIns="114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06B6D4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sensors</a:t>
              </a:r>
              <a:r>
                <a:rPr b="1" lang="en-US" sz="1200">
                  <a:solidFill>
                    <a:srgbClr val="1E3A8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Controlled Live IoT</a:t>
              </a:r>
              <a:endParaRPr b="1" sz="1200">
                <a:solidFill>
                  <a:srgbClr val="1E3A8A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288925" lvl="0" marL="457200" rtl="0" algn="l">
                <a:spcBef>
                  <a:spcPts val="450"/>
                </a:spcBef>
                <a:spcAft>
                  <a:spcPts val="0"/>
                </a:spcAft>
                <a:buClr>
                  <a:srgbClr val="333333"/>
                </a:buClr>
                <a:buSzPts val="950"/>
                <a:buFont typeface="Times New Roman"/>
                <a:buChar char="●"/>
              </a:pPr>
              <a:r>
                <a:rPr lang="en-US" sz="950">
                  <a:solidFill>
                    <a:srgbClr val="3333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Arduino telemetry</a:t>
              </a:r>
              <a:endParaRPr sz="95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288925" lvl="0" marL="457200" rtl="0" algn="l">
                <a:spcBef>
                  <a:spcPts val="300"/>
                </a:spcBef>
                <a:spcAft>
                  <a:spcPts val="0"/>
                </a:spcAft>
                <a:buClr>
                  <a:srgbClr val="333333"/>
                </a:buClr>
                <a:buSzPts val="950"/>
                <a:buFont typeface="Times New Roman"/>
                <a:buChar char="●"/>
              </a:pPr>
              <a:r>
                <a:rPr lang="en-US" sz="950">
                  <a:solidFill>
                    <a:srgbClr val="3333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IoT test endpoint</a:t>
              </a:r>
              <a:endParaRPr sz="95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pic>
          <p:nvPicPr>
            <p:cNvPr id="236" name="Google Shape;236;g3f943fda256_0_2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466850" y="3048000"/>
              <a:ext cx="971700" cy="162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7" name="Google Shape;237;g3f943fda256_0_2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419350" y="3048000"/>
              <a:ext cx="971700" cy="16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8" name="Google Shape;238;g3f943fda256_0_21"/>
            <p:cNvSpPr/>
            <p:nvPr/>
          </p:nvSpPr>
          <p:spPr>
            <a:xfrm>
              <a:off x="571500" y="3238500"/>
              <a:ext cx="3714900" cy="381000"/>
            </a:xfrm>
            <a:prstGeom prst="roundRect">
              <a:avLst>
                <a:gd fmla="val 15000" name="adj"/>
              </a:avLst>
            </a:prstGeom>
            <a:solidFill>
              <a:srgbClr val="1E3A8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" name="Google Shape;239;g3f943fda256_0_21"/>
            <p:cNvSpPr txBox="1"/>
            <p:nvPr/>
          </p:nvSpPr>
          <p:spPr>
            <a:xfrm>
              <a:off x="571500" y="3238500"/>
              <a:ext cx="37149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06B6D4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fact_check</a:t>
              </a:r>
              <a:r>
                <a:rPr b="1" lang="en-US" sz="110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Validation &amp; Normalization</a:t>
              </a:r>
              <a:endParaRPr b="1" sz="11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pic>
          <p:nvPicPr>
            <p:cNvPr id="240" name="Google Shape;240;g3f943fda256_0_21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2419350" y="3619500"/>
              <a:ext cx="19200" cy="1905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1" name="Google Shape;241;g3f943fda256_0_21"/>
            <p:cNvSpPr/>
            <p:nvPr/>
          </p:nvSpPr>
          <p:spPr>
            <a:xfrm>
              <a:off x="571500" y="3810000"/>
              <a:ext cx="3714900" cy="381000"/>
            </a:xfrm>
            <a:prstGeom prst="roundRect">
              <a:avLst>
                <a:gd fmla="val 15000" name="adj"/>
              </a:avLst>
            </a:prstGeom>
            <a:solidFill>
              <a:srgbClr val="1E3A8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" name="Google Shape;242;g3f943fda256_0_21"/>
            <p:cNvSpPr txBox="1"/>
            <p:nvPr/>
          </p:nvSpPr>
          <p:spPr>
            <a:xfrm>
              <a:off x="571500" y="3810000"/>
              <a:ext cx="37149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06B6D4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hub</a:t>
              </a:r>
              <a:r>
                <a:rPr b="1" lang="en-US" sz="110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Canonical Event Model</a:t>
              </a:r>
              <a:endParaRPr b="1" sz="11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pic>
          <p:nvPicPr>
            <p:cNvPr id="243" name="Google Shape;243;g3f943fda256_0_21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2419350" y="4191000"/>
              <a:ext cx="19200" cy="1905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4" name="Google Shape;244;g3f943fda256_0_21"/>
            <p:cNvSpPr/>
            <p:nvPr/>
          </p:nvSpPr>
          <p:spPr>
            <a:xfrm>
              <a:off x="571500" y="4381500"/>
              <a:ext cx="3714900" cy="1809600"/>
            </a:xfrm>
            <a:prstGeom prst="roundRect">
              <a:avLst>
                <a:gd fmla="val 4210" name="adj"/>
              </a:avLst>
            </a:prstGeom>
            <a:solidFill>
              <a:srgbClr val="1E3A8A"/>
            </a:solidFill>
            <a:ln cap="flat" cmpd="sng" w="14300">
              <a:solidFill>
                <a:srgbClr val="06B6D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" name="Google Shape;245;g3f943fda256_0_21"/>
            <p:cNvSpPr txBox="1"/>
            <p:nvPr/>
          </p:nvSpPr>
          <p:spPr>
            <a:xfrm>
              <a:off x="571500" y="4381500"/>
              <a:ext cx="3714900" cy="18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14300" lIns="114300" spcFirstLastPara="1" rIns="114300" wrap="square" tIns="114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FFFFFF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memory</a:t>
              </a:r>
              <a:r>
                <a:rPr b="1" lang="en-US" sz="1200">
                  <a:solidFill>
                    <a:srgbClr val="06B6D4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Deterministic DFIR Engine</a:t>
              </a:r>
              <a:endParaRPr b="1" sz="1200">
                <a:solidFill>
                  <a:srgbClr val="06B6D4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85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Detection rulesBehavioural baselinesRisk scoringCorrelationTimeline reconstructionGraph calculations</a:t>
              </a:r>
              <a:endParaRPr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i="1" lang="en-US" sz="1100">
                  <a:solidFill>
                    <a:srgbClr val="06B6D4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gavel</a:t>
              </a:r>
              <a:r>
                <a:rPr i="1" lang="en-US" sz="900">
                  <a:solidFill>
                    <a:srgbClr val="E2E8F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Python remains the computational authority.</a:t>
              </a:r>
              <a:endParaRPr i="1" sz="900">
                <a:solidFill>
                  <a:srgbClr val="E2E8F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pic>
          <p:nvPicPr>
            <p:cNvPr id="246" name="Google Shape;246;g3f943fda256_0_21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4610100" y="2276475"/>
              <a:ext cx="219000" cy="28671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7" name="Google Shape;247;g3f943fda256_0_21"/>
            <p:cNvSpPr/>
            <p:nvPr/>
          </p:nvSpPr>
          <p:spPr>
            <a:xfrm>
              <a:off x="4819650" y="2247900"/>
              <a:ext cx="76200" cy="76200"/>
            </a:xfrm>
            <a:prstGeom prst="ellipse">
              <a:avLst/>
            </a:prstGeom>
            <a:solidFill>
              <a:srgbClr val="06B6D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" name="Google Shape;248;g3f943fda256_0_21"/>
            <p:cNvSpPr/>
            <p:nvPr/>
          </p:nvSpPr>
          <p:spPr>
            <a:xfrm>
              <a:off x="4905375" y="1809750"/>
              <a:ext cx="3619500" cy="619200"/>
            </a:xfrm>
            <a:prstGeom prst="roundRect">
              <a:avLst>
                <a:gd fmla="val 12307" name="adj"/>
              </a:avLst>
            </a:prstGeom>
            <a:solidFill>
              <a:srgbClr val="1E3A8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" name="Google Shape;249;g3f943fda256_0_21"/>
            <p:cNvSpPr txBox="1"/>
            <p:nvPr/>
          </p:nvSpPr>
          <p:spPr>
            <a:xfrm>
              <a:off x="4905375" y="1809750"/>
              <a:ext cx="3619500" cy="61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5250" lIns="95250" spcFirstLastPara="1" rIns="95250" wrap="square" tIns="952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FFFFFF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storage</a:t>
              </a:r>
              <a:r>
                <a:rPr b="1" lang="en-US" sz="1200">
                  <a:solidFill>
                    <a:srgbClr val="06B6D4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Evidence Store</a:t>
              </a:r>
              <a:endParaRPr b="1" sz="1200">
                <a:solidFill>
                  <a:srgbClr val="06B6D4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lang="en-US" sz="900">
                  <a:solidFill>
                    <a:srgbClr val="E2E8F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Secure normalized case history database</a:t>
              </a:r>
              <a:endParaRPr sz="900">
                <a:solidFill>
                  <a:srgbClr val="E2E8F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pic>
          <p:nvPicPr>
            <p:cNvPr id="250" name="Google Shape;250;g3f943fda256_0_21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6705600" y="2428875"/>
              <a:ext cx="19200" cy="1905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1" name="Google Shape;251;g3f943fda256_0_21"/>
            <p:cNvSpPr/>
            <p:nvPr/>
          </p:nvSpPr>
          <p:spPr>
            <a:xfrm>
              <a:off x="4905375" y="2619375"/>
              <a:ext cx="3619500" cy="619200"/>
            </a:xfrm>
            <a:prstGeom prst="roundRect">
              <a:avLst>
                <a:gd fmla="val 12307" name="adj"/>
              </a:avLst>
            </a:prstGeom>
            <a:solidFill>
              <a:srgbClr val="1E3A8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" name="Google Shape;252;g3f943fda256_0_21"/>
            <p:cNvSpPr txBox="1"/>
            <p:nvPr/>
          </p:nvSpPr>
          <p:spPr>
            <a:xfrm>
              <a:off x="4905375" y="2619375"/>
              <a:ext cx="3619500" cy="61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5250" lIns="95250" spcFirstLastPara="1" rIns="95250" wrap="square" tIns="952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FFFFFF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bolt</a:t>
              </a:r>
              <a:r>
                <a:rPr b="1" lang="en-US" sz="1200">
                  <a:solidFill>
                    <a:srgbClr val="06B6D4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FastAPI APIs &amp; Real-Time Delivery</a:t>
              </a:r>
              <a:endParaRPr b="1" sz="1200">
                <a:solidFill>
                  <a:srgbClr val="06B6D4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lang="en-US" sz="900">
                  <a:solidFill>
                    <a:srgbClr val="E2E8F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High-performance telemetry broadcast pipeline</a:t>
              </a:r>
              <a:endParaRPr sz="900">
                <a:solidFill>
                  <a:srgbClr val="E2E8F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pic>
          <p:nvPicPr>
            <p:cNvPr id="253" name="Google Shape;253;g3f943fda256_0_21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6705600" y="3238500"/>
              <a:ext cx="19200" cy="1905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4" name="Google Shape;254;g3f943fda256_0_21"/>
            <p:cNvSpPr/>
            <p:nvPr/>
          </p:nvSpPr>
          <p:spPr>
            <a:xfrm>
              <a:off x="4905375" y="3429000"/>
              <a:ext cx="3619500" cy="1047900"/>
            </a:xfrm>
            <a:prstGeom prst="roundRect">
              <a:avLst>
                <a:gd fmla="val 7272" name="adj"/>
              </a:avLst>
            </a:prstGeom>
            <a:solidFill>
              <a:srgbClr val="1E3A8A"/>
            </a:solidFill>
            <a:ln cap="flat" cmpd="sng" w="9525">
              <a:solidFill>
                <a:srgbClr val="DC262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" name="Google Shape;255;g3f943fda256_0_21"/>
            <p:cNvSpPr txBox="1"/>
            <p:nvPr/>
          </p:nvSpPr>
          <p:spPr>
            <a:xfrm>
              <a:off x="4905375" y="3429000"/>
              <a:ext cx="36195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5250" lIns="95250" spcFirstLastPara="1" rIns="95250" wrap="square" tIns="952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FFFFFF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auto_awesome</a:t>
              </a:r>
              <a:r>
                <a:rPr b="1" lang="en-US" sz="1200">
                  <a:solidFill>
                    <a:srgbClr val="06B6D4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Visualization + AI Layer</a:t>
              </a:r>
              <a:endParaRPr b="1" sz="1200">
                <a:solidFill>
                  <a:srgbClr val="06B6D4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lang="en-US" sz="900">
                  <a:solidFill>
                    <a:srgbClr val="E2E8F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Local offline AI assistance for investigator queries.</a:t>
              </a:r>
              <a:endParaRPr sz="900">
                <a:solidFill>
                  <a:srgbClr val="E2E8F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850">
                  <a:solidFill>
                    <a:srgbClr val="FCA5A5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* AI only consumes verified results and does not calculate forensic values.</a:t>
              </a:r>
              <a:endParaRPr i="1" sz="850">
                <a:solidFill>
                  <a:srgbClr val="FCA5A5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pic>
          <p:nvPicPr>
            <p:cNvPr id="256" name="Google Shape;256;g3f943fda256_0_21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6705600" y="4476750"/>
              <a:ext cx="19200" cy="1905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7" name="Google Shape;257;g3f943fda256_0_21"/>
            <p:cNvSpPr/>
            <p:nvPr/>
          </p:nvSpPr>
          <p:spPr>
            <a:xfrm>
              <a:off x="4905375" y="4667250"/>
              <a:ext cx="3619500" cy="1047900"/>
            </a:xfrm>
            <a:prstGeom prst="roundRect">
              <a:avLst>
                <a:gd fmla="val 7272" name="adj"/>
              </a:avLst>
            </a:prstGeom>
            <a:solidFill>
              <a:srgbClr val="1E3A8A"/>
            </a:solidFill>
            <a:ln cap="flat" cmpd="sng" w="14300">
              <a:solidFill>
                <a:srgbClr val="06B6D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" name="Google Shape;258;g3f943fda256_0_21"/>
            <p:cNvSpPr txBox="1"/>
            <p:nvPr/>
          </p:nvSpPr>
          <p:spPr>
            <a:xfrm>
              <a:off x="4905375" y="4667250"/>
              <a:ext cx="36195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14300" lIns="114300" spcFirstLastPara="1" rIns="114300" wrap="square" tIns="114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06B6D4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dashboard</a:t>
              </a:r>
              <a:r>
                <a:rPr b="1" lang="en-US" sz="130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React Investigation Dashboard</a:t>
              </a:r>
              <a:endParaRPr b="1" sz="13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950">
                  <a:solidFill>
                    <a:srgbClr val="CBD5E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Interactive interface rendering live charts, comprehensive event timelines, and AI-assisted triage reports.</a:t>
              </a:r>
              <a:endParaRPr sz="950">
                <a:solidFill>
                  <a:srgbClr val="CBD5E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3f943fda256_0_28"/>
          <p:cNvSpPr txBox="1"/>
          <p:nvPr>
            <p:ph type="title"/>
          </p:nvPr>
        </p:nvSpPr>
        <p:spPr>
          <a:xfrm>
            <a:off x="457200" y="1143000"/>
            <a:ext cx="8229600" cy="914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1E3A8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Technology Stack</a:t>
            </a:r>
            <a:endParaRPr b="1" sz="3600">
              <a:solidFill>
                <a:srgbClr val="1E3A8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265" name="Google Shape;265;g3f943fda256_0_28"/>
          <p:cNvGrpSpPr/>
          <p:nvPr/>
        </p:nvGrpSpPr>
        <p:grpSpPr>
          <a:xfrm>
            <a:off x="571500" y="2000250"/>
            <a:ext cx="8001000" cy="685800"/>
            <a:chOff x="571500" y="2000250"/>
            <a:chExt cx="8001000" cy="685800"/>
          </a:xfrm>
        </p:grpSpPr>
        <p:sp>
          <p:nvSpPr>
            <p:cNvPr id="266" name="Google Shape;266;g3f943fda256_0_28"/>
            <p:cNvSpPr/>
            <p:nvPr/>
          </p:nvSpPr>
          <p:spPr>
            <a:xfrm>
              <a:off x="571500" y="2000250"/>
              <a:ext cx="2190900" cy="685800"/>
            </a:xfrm>
            <a:prstGeom prst="roundRect">
              <a:avLst>
                <a:gd fmla="val 11111" name="adj"/>
              </a:avLst>
            </a:prstGeom>
            <a:solidFill>
              <a:srgbClr val="1E3A8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" name="Google Shape;267;g3f943fda256_0_28"/>
            <p:cNvSpPr txBox="1"/>
            <p:nvPr/>
          </p:nvSpPr>
          <p:spPr>
            <a:xfrm>
              <a:off x="571500" y="2000250"/>
              <a:ext cx="2190900" cy="68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42875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06B6D4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devices</a:t>
              </a:r>
              <a:r>
                <a:rPr b="1" lang="en-US" sz="130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Presentation Layer</a:t>
              </a:r>
              <a:endParaRPr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68" name="Google Shape;268;g3f943fda256_0_28"/>
            <p:cNvSpPr/>
            <p:nvPr/>
          </p:nvSpPr>
          <p:spPr>
            <a:xfrm>
              <a:off x="2857500" y="2000250"/>
              <a:ext cx="5715000" cy="685800"/>
            </a:xfrm>
            <a:prstGeom prst="roundRect">
              <a:avLst>
                <a:gd fmla="val 11111" name="adj"/>
              </a:avLst>
            </a:prstGeom>
            <a:solidFill>
              <a:srgbClr val="F8FAFC"/>
            </a:solidFill>
            <a:ln cap="flat" cmpd="sng" w="14300">
              <a:solidFill>
                <a:srgbClr val="1E3A8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" name="Google Shape;269;g3f943fda256_0_28"/>
            <p:cNvSpPr txBox="1"/>
            <p:nvPr/>
          </p:nvSpPr>
          <p:spPr>
            <a:xfrm>
              <a:off x="2857500" y="2000250"/>
              <a:ext cx="5715000" cy="68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42875" spcFirstLastPara="1" rIns="142875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825">
                  <a:solidFill>
                    <a:srgbClr val="1E3A8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ReactViteTailwind CSSshadcn/uiRechartsReact Flow</a:t>
              </a:r>
              <a:endParaRPr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270" name="Google Shape;270;g3f943fda256_0_28"/>
          <p:cNvSpPr txBox="1"/>
          <p:nvPr>
            <p:ph idx="12" type="sldNum"/>
          </p:nvPr>
        </p:nvSpPr>
        <p:spPr>
          <a:xfrm>
            <a:off x="6553200" y="6373546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271" name="Google Shape;271;g3f943fda256_0_28"/>
          <p:cNvGrpSpPr/>
          <p:nvPr/>
        </p:nvGrpSpPr>
        <p:grpSpPr>
          <a:xfrm>
            <a:off x="571500" y="2781300"/>
            <a:ext cx="8001000" cy="685800"/>
            <a:chOff x="571500" y="2781300"/>
            <a:chExt cx="8001000" cy="685800"/>
          </a:xfrm>
        </p:grpSpPr>
        <p:sp>
          <p:nvSpPr>
            <p:cNvPr id="272" name="Google Shape;272;g3f943fda256_0_28"/>
            <p:cNvSpPr/>
            <p:nvPr/>
          </p:nvSpPr>
          <p:spPr>
            <a:xfrm>
              <a:off x="571500" y="2781300"/>
              <a:ext cx="2190900" cy="685800"/>
            </a:xfrm>
            <a:prstGeom prst="roundRect">
              <a:avLst>
                <a:gd fmla="val 11111" name="adj"/>
              </a:avLst>
            </a:prstGeom>
            <a:solidFill>
              <a:srgbClr val="1E3A8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" name="Google Shape;273;g3f943fda256_0_28"/>
            <p:cNvSpPr txBox="1"/>
            <p:nvPr/>
          </p:nvSpPr>
          <p:spPr>
            <a:xfrm>
              <a:off x="571500" y="2781300"/>
              <a:ext cx="2190900" cy="68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42875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06B6D4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settings</a:t>
              </a:r>
              <a:r>
                <a:rPr b="1" lang="en-US" sz="130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Application &amp; Analysis</a:t>
              </a:r>
              <a:endParaRPr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74" name="Google Shape;274;g3f943fda256_0_28"/>
            <p:cNvSpPr/>
            <p:nvPr/>
          </p:nvSpPr>
          <p:spPr>
            <a:xfrm>
              <a:off x="2857500" y="2781300"/>
              <a:ext cx="5715000" cy="685800"/>
            </a:xfrm>
            <a:prstGeom prst="roundRect">
              <a:avLst>
                <a:gd fmla="val 11111" name="adj"/>
              </a:avLst>
            </a:prstGeom>
            <a:solidFill>
              <a:srgbClr val="F8FAFC"/>
            </a:solidFill>
            <a:ln cap="flat" cmpd="sng" w="14300">
              <a:solidFill>
                <a:srgbClr val="1E3A8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" name="Google Shape;275;g3f943fda256_0_28"/>
            <p:cNvSpPr txBox="1"/>
            <p:nvPr/>
          </p:nvSpPr>
          <p:spPr>
            <a:xfrm>
              <a:off x="2857500" y="2781300"/>
              <a:ext cx="5715000" cy="68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42875" spcFirstLastPara="1" rIns="142875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825">
                  <a:solidFill>
                    <a:srgbClr val="1E3A8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PythonFastAPIPydanticPandasNetworkX</a:t>
              </a:r>
              <a:endParaRPr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276" name="Google Shape;276;g3f943fda256_0_28"/>
          <p:cNvGrpSpPr/>
          <p:nvPr/>
        </p:nvGrpSpPr>
        <p:grpSpPr>
          <a:xfrm>
            <a:off x="571500" y="3562350"/>
            <a:ext cx="8001000" cy="685800"/>
            <a:chOff x="571500" y="3562350"/>
            <a:chExt cx="8001000" cy="685800"/>
          </a:xfrm>
        </p:grpSpPr>
        <p:sp>
          <p:nvSpPr>
            <p:cNvPr id="277" name="Google Shape;277;g3f943fda256_0_28"/>
            <p:cNvSpPr/>
            <p:nvPr/>
          </p:nvSpPr>
          <p:spPr>
            <a:xfrm>
              <a:off x="571500" y="3562350"/>
              <a:ext cx="2190900" cy="685800"/>
            </a:xfrm>
            <a:prstGeom prst="roundRect">
              <a:avLst>
                <a:gd fmla="val 11111" name="adj"/>
              </a:avLst>
            </a:prstGeom>
            <a:solidFill>
              <a:srgbClr val="1E3A8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" name="Google Shape;278;g3f943fda256_0_28"/>
            <p:cNvSpPr txBox="1"/>
            <p:nvPr/>
          </p:nvSpPr>
          <p:spPr>
            <a:xfrm>
              <a:off x="571500" y="3562350"/>
              <a:ext cx="2190900" cy="68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42875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06B6D4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psychology</a:t>
              </a:r>
              <a:r>
                <a:rPr b="1" lang="en-US" sz="130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Data &amp; AI</a:t>
              </a:r>
              <a:endParaRPr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79" name="Google Shape;279;g3f943fda256_0_28"/>
            <p:cNvSpPr/>
            <p:nvPr/>
          </p:nvSpPr>
          <p:spPr>
            <a:xfrm>
              <a:off x="2857500" y="3562350"/>
              <a:ext cx="5715000" cy="685800"/>
            </a:xfrm>
            <a:prstGeom prst="roundRect">
              <a:avLst>
                <a:gd fmla="val 11111" name="adj"/>
              </a:avLst>
            </a:prstGeom>
            <a:solidFill>
              <a:srgbClr val="F8FAFC"/>
            </a:solidFill>
            <a:ln cap="flat" cmpd="sng" w="14300">
              <a:solidFill>
                <a:srgbClr val="1E3A8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" name="Google Shape;280;g3f943fda256_0_28"/>
            <p:cNvSpPr txBox="1"/>
            <p:nvPr/>
          </p:nvSpPr>
          <p:spPr>
            <a:xfrm>
              <a:off x="2857500" y="3562350"/>
              <a:ext cx="5715000" cy="68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42875" spcFirstLastPara="1" rIns="142875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825">
                  <a:solidFill>
                    <a:srgbClr val="1E3A8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SQLiteOllamaQwen 9B Q4_K_M</a:t>
              </a:r>
              <a:endParaRPr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281" name="Google Shape;281;g3f943fda256_0_28"/>
          <p:cNvGrpSpPr/>
          <p:nvPr/>
        </p:nvGrpSpPr>
        <p:grpSpPr>
          <a:xfrm>
            <a:off x="571500" y="4343400"/>
            <a:ext cx="8001000" cy="685800"/>
            <a:chOff x="571500" y="4343400"/>
            <a:chExt cx="8001000" cy="685800"/>
          </a:xfrm>
        </p:grpSpPr>
        <p:sp>
          <p:nvSpPr>
            <p:cNvPr id="282" name="Google Shape;282;g3f943fda256_0_28"/>
            <p:cNvSpPr/>
            <p:nvPr/>
          </p:nvSpPr>
          <p:spPr>
            <a:xfrm>
              <a:off x="571500" y="4343400"/>
              <a:ext cx="2190900" cy="685800"/>
            </a:xfrm>
            <a:prstGeom prst="roundRect">
              <a:avLst>
                <a:gd fmla="val 11111" name="adj"/>
              </a:avLst>
            </a:prstGeom>
            <a:solidFill>
              <a:srgbClr val="1E3A8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" name="Google Shape;283;g3f943fda256_0_28"/>
            <p:cNvSpPr txBox="1"/>
            <p:nvPr/>
          </p:nvSpPr>
          <p:spPr>
            <a:xfrm>
              <a:off x="571500" y="4343400"/>
              <a:ext cx="2190900" cy="68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42875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06B6D4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swap_horiz</a:t>
              </a:r>
              <a:r>
                <a:rPr b="1" lang="en-US" sz="130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Comm &amp; Dev</a:t>
              </a:r>
              <a:endParaRPr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84" name="Google Shape;284;g3f943fda256_0_28"/>
            <p:cNvSpPr/>
            <p:nvPr/>
          </p:nvSpPr>
          <p:spPr>
            <a:xfrm>
              <a:off x="2857500" y="4343400"/>
              <a:ext cx="5715000" cy="685800"/>
            </a:xfrm>
            <a:prstGeom prst="roundRect">
              <a:avLst>
                <a:gd fmla="val 11111" name="adj"/>
              </a:avLst>
            </a:prstGeom>
            <a:solidFill>
              <a:srgbClr val="F8FAFC"/>
            </a:solidFill>
            <a:ln cap="flat" cmpd="sng" w="14300">
              <a:solidFill>
                <a:srgbClr val="1E3A8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" name="Google Shape;285;g3f943fda256_0_28"/>
            <p:cNvSpPr txBox="1"/>
            <p:nvPr/>
          </p:nvSpPr>
          <p:spPr>
            <a:xfrm>
              <a:off x="2857500" y="4343400"/>
              <a:ext cx="5715000" cy="68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42875" spcFirstLastPara="1" rIns="142875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825">
                  <a:solidFill>
                    <a:srgbClr val="1E3A8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SMTPGitGitHubPytestVitest</a:t>
              </a:r>
              <a:r>
                <a:rPr b="1" lang="en-US" sz="825">
                  <a:solidFill>
                    <a:srgbClr val="0891B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MQTT/HTTP </a:t>
              </a:r>
              <a:r>
                <a:rPr b="0" lang="en-US" sz="600">
                  <a:solidFill>
                    <a:srgbClr val="0891B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(Planned)</a:t>
              </a:r>
              <a:r>
                <a:rPr b="1" lang="en-US" sz="825">
                  <a:solidFill>
                    <a:srgbClr val="0891B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SSE/WebSockets </a:t>
              </a:r>
              <a:r>
                <a:rPr b="0" lang="en-US" sz="600">
                  <a:solidFill>
                    <a:srgbClr val="0891B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(Planned)</a:t>
              </a:r>
              <a:endParaRPr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286" name="Google Shape;286;g3f943fda256_0_28"/>
          <p:cNvGrpSpPr/>
          <p:nvPr/>
        </p:nvGrpSpPr>
        <p:grpSpPr>
          <a:xfrm>
            <a:off x="571500" y="5124450"/>
            <a:ext cx="8001000" cy="685800"/>
            <a:chOff x="571500" y="5124450"/>
            <a:chExt cx="8001000" cy="685800"/>
          </a:xfrm>
        </p:grpSpPr>
        <p:sp>
          <p:nvSpPr>
            <p:cNvPr id="287" name="Google Shape;287;g3f943fda256_0_28"/>
            <p:cNvSpPr/>
            <p:nvPr/>
          </p:nvSpPr>
          <p:spPr>
            <a:xfrm>
              <a:off x="571500" y="5124450"/>
              <a:ext cx="2190900" cy="685800"/>
            </a:xfrm>
            <a:prstGeom prst="roundRect">
              <a:avLst>
                <a:gd fmla="val 11111" name="adj"/>
              </a:avLst>
            </a:prstGeom>
            <a:solidFill>
              <a:srgbClr val="1E3A8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" name="Google Shape;288;g3f943fda256_0_28"/>
            <p:cNvSpPr txBox="1"/>
            <p:nvPr/>
          </p:nvSpPr>
          <p:spPr>
            <a:xfrm>
              <a:off x="571500" y="5124450"/>
              <a:ext cx="2190900" cy="68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42875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06B6D4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router</a:t>
              </a:r>
              <a:r>
                <a:rPr b="1" lang="en-US" sz="130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Hardware Layer</a:t>
              </a:r>
              <a:endParaRPr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89" name="Google Shape;289;g3f943fda256_0_28"/>
            <p:cNvSpPr/>
            <p:nvPr/>
          </p:nvSpPr>
          <p:spPr>
            <a:xfrm>
              <a:off x="2857500" y="5124450"/>
              <a:ext cx="5715000" cy="685800"/>
            </a:xfrm>
            <a:prstGeom prst="roundRect">
              <a:avLst>
                <a:gd fmla="val 11111" name="adj"/>
              </a:avLst>
            </a:prstGeom>
            <a:solidFill>
              <a:srgbClr val="F8FAFC"/>
            </a:solidFill>
            <a:ln cap="flat" cmpd="sng" w="14300">
              <a:solidFill>
                <a:srgbClr val="1E3A8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" name="Google Shape;290;g3f943fda256_0_28"/>
            <p:cNvSpPr txBox="1"/>
            <p:nvPr/>
          </p:nvSpPr>
          <p:spPr>
            <a:xfrm>
              <a:off x="2857500" y="5124450"/>
              <a:ext cx="5715000" cy="68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42875" spcFirstLastPara="1" rIns="142875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825">
                  <a:solidFill>
                    <a:srgbClr val="1E3A8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Dev LaptopArduino MCUIoT Test DeviceAuthorized Local Network</a:t>
              </a:r>
              <a:endParaRPr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3f943fda256_0_35"/>
          <p:cNvSpPr txBox="1"/>
          <p:nvPr>
            <p:ph type="title"/>
          </p:nvPr>
        </p:nvSpPr>
        <p:spPr>
          <a:xfrm>
            <a:off x="457200" y="1176525"/>
            <a:ext cx="8229600" cy="762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1E3A8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Expected Deliverables &amp; Demonstration</a:t>
            </a:r>
            <a:endParaRPr b="1" sz="3200">
              <a:solidFill>
                <a:srgbClr val="1E3A8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297" name="Google Shape;297;g3f943fda256_0_35"/>
          <p:cNvGrpSpPr/>
          <p:nvPr/>
        </p:nvGrpSpPr>
        <p:grpSpPr>
          <a:xfrm>
            <a:off x="485775" y="2114275"/>
            <a:ext cx="3714900" cy="4095675"/>
            <a:chOff x="514350" y="1905000"/>
            <a:chExt cx="3714900" cy="4095675"/>
          </a:xfrm>
        </p:grpSpPr>
        <p:sp>
          <p:nvSpPr>
            <p:cNvPr id="298" name="Google Shape;298;g3f943fda256_0_35"/>
            <p:cNvSpPr/>
            <p:nvPr/>
          </p:nvSpPr>
          <p:spPr>
            <a:xfrm>
              <a:off x="514350" y="1905000"/>
              <a:ext cx="3714900" cy="428700"/>
            </a:xfrm>
            <a:prstGeom prst="roundRect">
              <a:avLst>
                <a:gd fmla="val 17777" name="adj"/>
              </a:avLst>
            </a:prstGeom>
            <a:solidFill>
              <a:srgbClr val="1E3A8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" name="Google Shape;299;g3f943fda256_0_35"/>
            <p:cNvSpPr txBox="1"/>
            <p:nvPr/>
          </p:nvSpPr>
          <p:spPr>
            <a:xfrm>
              <a:off x="514350" y="1905000"/>
              <a:ext cx="3714900" cy="428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142875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06B6D4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assignment_turned_in</a:t>
              </a:r>
              <a:r>
                <a:rPr b="1" lang="en-US" sz="160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Expected Deliverables</a:t>
              </a:r>
              <a:endParaRPr b="1" sz="16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00" name="Google Shape;300;g3f943fda256_0_35"/>
            <p:cNvSpPr/>
            <p:nvPr/>
          </p:nvSpPr>
          <p:spPr>
            <a:xfrm>
              <a:off x="514350" y="2428875"/>
              <a:ext cx="3714900" cy="3571800"/>
            </a:xfrm>
            <a:prstGeom prst="roundRect">
              <a:avLst>
                <a:gd fmla="val 2133" name="adj"/>
              </a:avLst>
            </a:prstGeom>
            <a:solidFill>
              <a:srgbClr val="F8FAFC"/>
            </a:solidFill>
            <a:ln cap="flat" cmpd="sng" w="14300">
              <a:solidFill>
                <a:srgbClr val="1E3A8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" name="Google Shape;301;g3f943fda256_0_35"/>
            <p:cNvSpPr txBox="1"/>
            <p:nvPr/>
          </p:nvSpPr>
          <p:spPr>
            <a:xfrm>
              <a:off x="514350" y="2428875"/>
              <a:ext cx="3714900" cy="3571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42875" lIns="190500" spcFirstLastPara="1" rIns="190500" wrap="square" tIns="142875">
              <a:noAutofit/>
            </a:bodyPr>
            <a:lstStyle/>
            <a:p>
              <a:pPr indent="-304800" lvl="0" marL="457200" rtl="0" algn="l">
                <a:spcBef>
                  <a:spcPts val="0"/>
                </a:spcBef>
                <a:spcAft>
                  <a:spcPts val="0"/>
                </a:spcAft>
                <a:buClr>
                  <a:srgbClr val="333333"/>
                </a:buClr>
                <a:buSzPts val="1200"/>
                <a:buFont typeface="Times New Roman"/>
                <a:buChar char="●"/>
              </a:pPr>
              <a:r>
                <a:rPr lang="en-US" sz="1200">
                  <a:solidFill>
                    <a:srgbClr val="3333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Batch evidence ingestion pipeline</a:t>
              </a:r>
              <a:endParaRPr sz="12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304800" lvl="0" marL="457200" rtl="0" algn="l">
                <a:spcBef>
                  <a:spcPts val="750"/>
                </a:spcBef>
                <a:spcAft>
                  <a:spcPts val="0"/>
                </a:spcAft>
                <a:buClr>
                  <a:srgbClr val="333333"/>
                </a:buClr>
                <a:buSzPts val="1200"/>
                <a:buFont typeface="Times New Roman"/>
                <a:buChar char="●"/>
              </a:pPr>
              <a:r>
                <a:rPr lang="en-US" sz="1200">
                  <a:solidFill>
                    <a:srgbClr val="3333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Controlled live telemetry collector</a:t>
              </a:r>
              <a:endParaRPr sz="12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304800" lvl="0" marL="457200" rtl="0" algn="l">
                <a:spcBef>
                  <a:spcPts val="750"/>
                </a:spcBef>
                <a:spcAft>
                  <a:spcPts val="0"/>
                </a:spcAft>
                <a:buClr>
                  <a:srgbClr val="333333"/>
                </a:buClr>
                <a:buSzPts val="1200"/>
                <a:buFont typeface="Times New Roman"/>
                <a:buChar char="●"/>
              </a:pPr>
              <a:r>
                <a:rPr lang="en-US" sz="1200">
                  <a:solidFill>
                    <a:srgbClr val="3333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Canonical IoT event model</a:t>
              </a:r>
              <a:endParaRPr sz="12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304800" lvl="0" marL="457200" rtl="0" algn="l">
                <a:spcBef>
                  <a:spcPts val="750"/>
                </a:spcBef>
                <a:spcAft>
                  <a:spcPts val="0"/>
                </a:spcAft>
                <a:buClr>
                  <a:srgbClr val="333333"/>
                </a:buClr>
                <a:buSzPts val="1200"/>
                <a:buFont typeface="Times New Roman"/>
                <a:buChar char="●"/>
              </a:pPr>
              <a:r>
                <a:rPr lang="en-US" sz="1200">
                  <a:solidFill>
                    <a:srgbClr val="3333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Deterministic detection and risk engine</a:t>
              </a:r>
              <a:endParaRPr sz="12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304800" lvl="0" marL="457200" rtl="0" algn="l">
                <a:spcBef>
                  <a:spcPts val="750"/>
                </a:spcBef>
                <a:spcAft>
                  <a:spcPts val="0"/>
                </a:spcAft>
                <a:buClr>
                  <a:srgbClr val="333333"/>
                </a:buClr>
                <a:buSzPts val="1200"/>
                <a:buFont typeface="Times New Roman"/>
                <a:buChar char="●"/>
              </a:pPr>
              <a:r>
                <a:rPr lang="en-US" sz="1200">
                  <a:solidFill>
                    <a:srgbClr val="3333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Event correlation and incident timelines</a:t>
              </a:r>
              <a:endParaRPr sz="12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304800" lvl="0" marL="457200" rtl="0" algn="l">
                <a:spcBef>
                  <a:spcPts val="750"/>
                </a:spcBef>
                <a:spcAft>
                  <a:spcPts val="0"/>
                </a:spcAft>
                <a:buClr>
                  <a:srgbClr val="333333"/>
                </a:buClr>
                <a:buSzPts val="1200"/>
                <a:buFont typeface="Times New Roman"/>
                <a:buChar char="●"/>
              </a:pPr>
              <a:r>
                <a:rPr lang="en-US" sz="1200">
                  <a:solidFill>
                    <a:srgbClr val="3333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Device/entity graphs and charts</a:t>
              </a:r>
              <a:endParaRPr sz="12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304800" lvl="0" marL="457200" rtl="0" algn="l">
                <a:spcBef>
                  <a:spcPts val="750"/>
                </a:spcBef>
                <a:spcAft>
                  <a:spcPts val="0"/>
                </a:spcAft>
                <a:buClr>
                  <a:srgbClr val="333333"/>
                </a:buClr>
                <a:buSzPts val="1200"/>
                <a:buFont typeface="Times New Roman"/>
                <a:buChar char="●"/>
              </a:pPr>
              <a:r>
                <a:rPr lang="en-US" sz="1200">
                  <a:solidFill>
                    <a:srgbClr val="3333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Investigation dashboard</a:t>
              </a:r>
              <a:endParaRPr sz="12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304800" lvl="0" marL="457200" rtl="0" algn="l">
                <a:spcBef>
                  <a:spcPts val="750"/>
                </a:spcBef>
                <a:spcAft>
                  <a:spcPts val="0"/>
                </a:spcAft>
                <a:buClr>
                  <a:srgbClr val="333333"/>
                </a:buClr>
                <a:buSzPts val="1200"/>
                <a:buFont typeface="Times New Roman"/>
                <a:buChar char="●"/>
              </a:pPr>
              <a:r>
                <a:rPr lang="en-US" sz="1200">
                  <a:solidFill>
                    <a:srgbClr val="3333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Local AI investigation assistant</a:t>
              </a:r>
              <a:endParaRPr sz="12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304800" lvl="0" marL="457200" rtl="0" algn="l">
                <a:spcBef>
                  <a:spcPts val="750"/>
                </a:spcBef>
                <a:spcAft>
                  <a:spcPts val="0"/>
                </a:spcAft>
                <a:buClr>
                  <a:srgbClr val="333333"/>
                </a:buClr>
                <a:buSzPts val="1200"/>
                <a:buFont typeface="Times New Roman"/>
                <a:buChar char="●"/>
              </a:pPr>
              <a:r>
                <a:rPr lang="en-US" sz="1200">
                  <a:solidFill>
                    <a:srgbClr val="3333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Reports and auditable evidence history</a:t>
              </a:r>
              <a:endParaRPr sz="12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302" name="Google Shape;302;g3f943fda256_0_35"/>
          <p:cNvSpPr txBox="1"/>
          <p:nvPr>
            <p:ph idx="12" type="sldNum"/>
          </p:nvPr>
        </p:nvSpPr>
        <p:spPr>
          <a:xfrm>
            <a:off x="6524625" y="6582821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303" name="Google Shape;303;g3f943fda256_0_35"/>
          <p:cNvGrpSpPr/>
          <p:nvPr/>
        </p:nvGrpSpPr>
        <p:grpSpPr>
          <a:xfrm>
            <a:off x="4448175" y="2114275"/>
            <a:ext cx="4095900" cy="4095675"/>
            <a:chOff x="4476750" y="1905000"/>
            <a:chExt cx="4095900" cy="4095675"/>
          </a:xfrm>
        </p:grpSpPr>
        <p:sp>
          <p:nvSpPr>
            <p:cNvPr id="304" name="Google Shape;304;g3f943fda256_0_35"/>
            <p:cNvSpPr/>
            <p:nvPr/>
          </p:nvSpPr>
          <p:spPr>
            <a:xfrm>
              <a:off x="4476750" y="1905000"/>
              <a:ext cx="4095900" cy="428700"/>
            </a:xfrm>
            <a:prstGeom prst="roundRect">
              <a:avLst>
                <a:gd fmla="val 17777" name="adj"/>
              </a:avLst>
            </a:prstGeom>
            <a:solidFill>
              <a:srgbClr val="1E3A8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" name="Google Shape;305;g3f943fda256_0_35"/>
            <p:cNvSpPr txBox="1"/>
            <p:nvPr/>
          </p:nvSpPr>
          <p:spPr>
            <a:xfrm>
              <a:off x="4476750" y="1905000"/>
              <a:ext cx="4095900" cy="428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142875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06B6D4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timeline</a:t>
              </a:r>
              <a:r>
                <a:rPr b="1" lang="en-US" sz="160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End-to-End Demonstration</a:t>
              </a:r>
              <a:endParaRPr b="1" sz="16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06" name="Google Shape;306;g3f943fda256_0_35"/>
            <p:cNvSpPr/>
            <p:nvPr/>
          </p:nvSpPr>
          <p:spPr>
            <a:xfrm>
              <a:off x="4476750" y="2428875"/>
              <a:ext cx="1809600" cy="476400"/>
            </a:xfrm>
            <a:prstGeom prst="roundRect">
              <a:avLst>
                <a:gd fmla="val 12000" name="adj"/>
              </a:avLst>
            </a:prstGeom>
            <a:solidFill>
              <a:srgbClr val="F8FAFC"/>
            </a:solidFill>
            <a:ln cap="flat" cmpd="sng" w="14300">
              <a:solidFill>
                <a:srgbClr val="06B6D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" name="Google Shape;307;g3f943fda256_0_35"/>
            <p:cNvSpPr txBox="1"/>
            <p:nvPr/>
          </p:nvSpPr>
          <p:spPr>
            <a:xfrm>
              <a:off x="4476750" y="2428875"/>
              <a:ext cx="18096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95250" spcFirstLastPara="1" rIns="9525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1E3A8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1. Normal Device Telemetry</a:t>
              </a:r>
              <a:endParaRPr b="1" sz="1000">
                <a:solidFill>
                  <a:srgbClr val="1E3A8A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308" name="Google Shape;308;g3f943fda256_0_35"/>
            <p:cNvCxnSpPr/>
            <p:nvPr/>
          </p:nvCxnSpPr>
          <p:spPr>
            <a:xfrm>
              <a:off x="5381625" y="2905125"/>
              <a:ext cx="0" cy="95400"/>
            </a:xfrm>
            <a:prstGeom prst="straightConnector1">
              <a:avLst/>
            </a:prstGeom>
            <a:solidFill>
              <a:srgbClr val="FFFFFF"/>
            </a:solidFill>
            <a:ln cap="flat" cmpd="sng" w="19050">
              <a:solidFill>
                <a:srgbClr val="06B6D4"/>
              </a:solidFill>
              <a:prstDash val="solid"/>
              <a:round/>
              <a:headEnd len="sm" w="sm" type="none"/>
              <a:tailEnd len="sm" w="sm" type="none"/>
            </a:ln>
          </p:spPr>
        </p:cxnSp>
        <p:pic>
          <p:nvPicPr>
            <p:cNvPr id="309" name="Google Shape;309;g3f943fda256_0_3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343525" y="2962275"/>
              <a:ext cx="76200" cy="381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0" name="Google Shape;310;g3f943fda256_0_35"/>
            <p:cNvSpPr/>
            <p:nvPr/>
          </p:nvSpPr>
          <p:spPr>
            <a:xfrm>
              <a:off x="4476750" y="3000375"/>
              <a:ext cx="1809600" cy="476400"/>
            </a:xfrm>
            <a:prstGeom prst="roundRect">
              <a:avLst>
                <a:gd fmla="val 12000" name="adj"/>
              </a:avLst>
            </a:prstGeom>
            <a:solidFill>
              <a:srgbClr val="F8FAFC"/>
            </a:solidFill>
            <a:ln cap="flat" cmpd="sng" w="14300">
              <a:solidFill>
                <a:srgbClr val="1E3A8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" name="Google Shape;311;g3f943fda256_0_35"/>
            <p:cNvSpPr txBox="1"/>
            <p:nvPr/>
          </p:nvSpPr>
          <p:spPr>
            <a:xfrm>
              <a:off x="4476750" y="3000375"/>
              <a:ext cx="18096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95250" spcFirstLastPara="1" rIns="9525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1E3A8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2. Controlled Suspicious Scenario</a:t>
              </a:r>
              <a:endParaRPr b="1" sz="1000">
                <a:solidFill>
                  <a:srgbClr val="1E3A8A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312" name="Google Shape;312;g3f943fda256_0_35"/>
            <p:cNvCxnSpPr/>
            <p:nvPr/>
          </p:nvCxnSpPr>
          <p:spPr>
            <a:xfrm>
              <a:off x="5381625" y="3476625"/>
              <a:ext cx="0" cy="95400"/>
            </a:xfrm>
            <a:prstGeom prst="straightConnector1">
              <a:avLst/>
            </a:prstGeom>
            <a:solidFill>
              <a:srgbClr val="FFFFFF"/>
            </a:solidFill>
            <a:ln cap="flat" cmpd="sng" w="19050">
              <a:solidFill>
                <a:srgbClr val="06B6D4"/>
              </a:solidFill>
              <a:prstDash val="solid"/>
              <a:round/>
              <a:headEnd len="sm" w="sm" type="none"/>
              <a:tailEnd len="sm" w="sm" type="none"/>
            </a:ln>
          </p:spPr>
        </p:cxnSp>
        <p:pic>
          <p:nvPicPr>
            <p:cNvPr id="313" name="Google Shape;313;g3f943fda256_0_3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343525" y="3533775"/>
              <a:ext cx="76200" cy="381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4" name="Google Shape;314;g3f943fda256_0_35"/>
            <p:cNvSpPr/>
            <p:nvPr/>
          </p:nvSpPr>
          <p:spPr>
            <a:xfrm>
              <a:off x="4476750" y="3571875"/>
              <a:ext cx="1809600" cy="476400"/>
            </a:xfrm>
            <a:prstGeom prst="roundRect">
              <a:avLst>
                <a:gd fmla="val 12000" name="adj"/>
              </a:avLst>
            </a:prstGeom>
            <a:solidFill>
              <a:srgbClr val="F8FAFC"/>
            </a:solidFill>
            <a:ln cap="flat" cmpd="sng" w="14300">
              <a:solidFill>
                <a:srgbClr val="06B6D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" name="Google Shape;315;g3f943fda256_0_35"/>
            <p:cNvSpPr txBox="1"/>
            <p:nvPr/>
          </p:nvSpPr>
          <p:spPr>
            <a:xfrm>
              <a:off x="4476750" y="3571875"/>
              <a:ext cx="18096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95250" spcFirstLastPara="1" rIns="9525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1E3A8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3. Telemetry Received &amp; Validated</a:t>
              </a:r>
              <a:endParaRPr b="1" sz="1000">
                <a:solidFill>
                  <a:srgbClr val="1E3A8A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316" name="Google Shape;316;g3f943fda256_0_35"/>
            <p:cNvCxnSpPr/>
            <p:nvPr/>
          </p:nvCxnSpPr>
          <p:spPr>
            <a:xfrm>
              <a:off x="5381625" y="4048125"/>
              <a:ext cx="0" cy="95400"/>
            </a:xfrm>
            <a:prstGeom prst="straightConnector1">
              <a:avLst/>
            </a:prstGeom>
            <a:solidFill>
              <a:srgbClr val="FFFFFF"/>
            </a:solidFill>
            <a:ln cap="flat" cmpd="sng" w="19050">
              <a:solidFill>
                <a:srgbClr val="06B6D4"/>
              </a:solidFill>
              <a:prstDash val="solid"/>
              <a:round/>
              <a:headEnd len="sm" w="sm" type="none"/>
              <a:tailEnd len="sm" w="sm" type="none"/>
            </a:ln>
          </p:spPr>
        </p:cxnSp>
        <p:pic>
          <p:nvPicPr>
            <p:cNvPr id="317" name="Google Shape;317;g3f943fda256_0_3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343525" y="4105275"/>
              <a:ext cx="76200" cy="381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8" name="Google Shape;318;g3f943fda256_0_35"/>
            <p:cNvSpPr/>
            <p:nvPr/>
          </p:nvSpPr>
          <p:spPr>
            <a:xfrm>
              <a:off x="4476750" y="4143375"/>
              <a:ext cx="1809600" cy="476400"/>
            </a:xfrm>
            <a:prstGeom prst="roundRect">
              <a:avLst>
                <a:gd fmla="val 12000" name="adj"/>
              </a:avLst>
            </a:prstGeom>
            <a:solidFill>
              <a:srgbClr val="F8FAFC"/>
            </a:solidFill>
            <a:ln cap="flat" cmpd="sng" w="14300">
              <a:solidFill>
                <a:srgbClr val="1E3A8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" name="Google Shape;319;g3f943fda256_0_35"/>
            <p:cNvSpPr txBox="1"/>
            <p:nvPr/>
          </p:nvSpPr>
          <p:spPr>
            <a:xfrm>
              <a:off x="4476750" y="4143375"/>
              <a:ext cx="18096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95250" spcFirstLastPara="1" rIns="9525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1E3A8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4. Deterministic Rule Triggered</a:t>
              </a:r>
              <a:endParaRPr b="1" sz="1000">
                <a:solidFill>
                  <a:srgbClr val="1E3A8A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pic>
          <p:nvPicPr>
            <p:cNvPr id="320" name="Google Shape;320;g3f943fda256_0_3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286500" y="2657475"/>
              <a:ext cx="476400" cy="17337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21" name="Google Shape;321;g3f943fda256_0_3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6724650" y="2628900"/>
              <a:ext cx="38100" cy="76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2" name="Google Shape;322;g3f943fda256_0_35"/>
            <p:cNvSpPr/>
            <p:nvPr/>
          </p:nvSpPr>
          <p:spPr>
            <a:xfrm>
              <a:off x="6762750" y="2428875"/>
              <a:ext cx="1809600" cy="476400"/>
            </a:xfrm>
            <a:prstGeom prst="roundRect">
              <a:avLst>
                <a:gd fmla="val 12000" name="adj"/>
              </a:avLst>
            </a:prstGeom>
            <a:solidFill>
              <a:srgbClr val="F8FAFC"/>
            </a:solidFill>
            <a:ln cap="flat" cmpd="sng" w="14300">
              <a:solidFill>
                <a:srgbClr val="06B6D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" name="Google Shape;323;g3f943fda256_0_35"/>
            <p:cNvSpPr txBox="1"/>
            <p:nvPr/>
          </p:nvSpPr>
          <p:spPr>
            <a:xfrm>
              <a:off x="6762750" y="2428875"/>
              <a:ext cx="18096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95250" spcFirstLastPara="1" rIns="9525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1E3A8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5. Live Alert Appears</a:t>
              </a:r>
              <a:endParaRPr b="1" sz="1000">
                <a:solidFill>
                  <a:srgbClr val="1E3A8A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324" name="Google Shape;324;g3f943fda256_0_35"/>
            <p:cNvCxnSpPr/>
            <p:nvPr/>
          </p:nvCxnSpPr>
          <p:spPr>
            <a:xfrm>
              <a:off x="7667625" y="2905125"/>
              <a:ext cx="0" cy="95400"/>
            </a:xfrm>
            <a:prstGeom prst="straightConnector1">
              <a:avLst/>
            </a:prstGeom>
            <a:solidFill>
              <a:srgbClr val="FFFFFF"/>
            </a:solidFill>
            <a:ln cap="flat" cmpd="sng" w="19050">
              <a:solidFill>
                <a:srgbClr val="06B6D4"/>
              </a:solidFill>
              <a:prstDash val="solid"/>
              <a:round/>
              <a:headEnd len="sm" w="sm" type="none"/>
              <a:tailEnd len="sm" w="sm" type="none"/>
            </a:ln>
          </p:spPr>
        </p:cxnSp>
        <p:pic>
          <p:nvPicPr>
            <p:cNvPr id="325" name="Google Shape;325;g3f943fda256_0_3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9525" y="2962275"/>
              <a:ext cx="76200" cy="381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6" name="Google Shape;326;g3f943fda256_0_35"/>
            <p:cNvSpPr/>
            <p:nvPr/>
          </p:nvSpPr>
          <p:spPr>
            <a:xfrm>
              <a:off x="6762750" y="3000375"/>
              <a:ext cx="1809600" cy="476400"/>
            </a:xfrm>
            <a:prstGeom prst="roundRect">
              <a:avLst>
                <a:gd fmla="val 12000" name="adj"/>
              </a:avLst>
            </a:prstGeom>
            <a:solidFill>
              <a:srgbClr val="F8FAFC"/>
            </a:solidFill>
            <a:ln cap="flat" cmpd="sng" w="14300">
              <a:solidFill>
                <a:srgbClr val="1E3A8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" name="Google Shape;327;g3f943fda256_0_35"/>
            <p:cNvSpPr txBox="1"/>
            <p:nvPr/>
          </p:nvSpPr>
          <p:spPr>
            <a:xfrm>
              <a:off x="6762750" y="3000375"/>
              <a:ext cx="18096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95250" spcFirstLastPara="1" rIns="9525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1E3A8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6. Evidence Preserved</a:t>
              </a:r>
              <a:endParaRPr b="1" sz="1000">
                <a:solidFill>
                  <a:srgbClr val="1E3A8A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328" name="Google Shape;328;g3f943fda256_0_35"/>
            <p:cNvCxnSpPr/>
            <p:nvPr/>
          </p:nvCxnSpPr>
          <p:spPr>
            <a:xfrm>
              <a:off x="7667625" y="3476625"/>
              <a:ext cx="0" cy="95400"/>
            </a:xfrm>
            <a:prstGeom prst="straightConnector1">
              <a:avLst/>
            </a:prstGeom>
            <a:solidFill>
              <a:srgbClr val="FFFFFF"/>
            </a:solidFill>
            <a:ln cap="flat" cmpd="sng" w="19050">
              <a:solidFill>
                <a:srgbClr val="06B6D4"/>
              </a:solidFill>
              <a:prstDash val="solid"/>
              <a:round/>
              <a:headEnd len="sm" w="sm" type="none"/>
              <a:tailEnd len="sm" w="sm" type="none"/>
            </a:ln>
          </p:spPr>
        </p:cxnSp>
        <p:pic>
          <p:nvPicPr>
            <p:cNvPr id="329" name="Google Shape;329;g3f943fda256_0_3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9525" y="3533775"/>
              <a:ext cx="76200" cy="381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30" name="Google Shape;330;g3f943fda256_0_35"/>
            <p:cNvSpPr/>
            <p:nvPr/>
          </p:nvSpPr>
          <p:spPr>
            <a:xfrm>
              <a:off x="6762750" y="3571875"/>
              <a:ext cx="1809600" cy="476400"/>
            </a:xfrm>
            <a:prstGeom prst="roundRect">
              <a:avLst>
                <a:gd fmla="val 12000" name="adj"/>
              </a:avLst>
            </a:prstGeom>
            <a:solidFill>
              <a:srgbClr val="F8FAFC"/>
            </a:solidFill>
            <a:ln cap="flat" cmpd="sng" w="14300">
              <a:solidFill>
                <a:srgbClr val="06B6D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" name="Google Shape;331;g3f943fda256_0_35"/>
            <p:cNvSpPr txBox="1"/>
            <p:nvPr/>
          </p:nvSpPr>
          <p:spPr>
            <a:xfrm>
              <a:off x="6762750" y="3571875"/>
              <a:ext cx="18096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95250" spcFirstLastPara="1" rIns="9525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1E3A8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7. Timeline &amp; Device Graph Updated</a:t>
              </a:r>
              <a:endParaRPr b="1" sz="1000">
                <a:solidFill>
                  <a:srgbClr val="1E3A8A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332" name="Google Shape;332;g3f943fda256_0_35"/>
            <p:cNvCxnSpPr/>
            <p:nvPr/>
          </p:nvCxnSpPr>
          <p:spPr>
            <a:xfrm>
              <a:off x="7667625" y="4048125"/>
              <a:ext cx="0" cy="95400"/>
            </a:xfrm>
            <a:prstGeom prst="straightConnector1">
              <a:avLst/>
            </a:prstGeom>
            <a:solidFill>
              <a:srgbClr val="FFFFFF"/>
            </a:solidFill>
            <a:ln cap="flat" cmpd="sng" w="19050">
              <a:solidFill>
                <a:srgbClr val="06B6D4"/>
              </a:solidFill>
              <a:prstDash val="solid"/>
              <a:round/>
              <a:headEnd len="sm" w="sm" type="none"/>
              <a:tailEnd len="sm" w="sm" type="none"/>
            </a:ln>
          </p:spPr>
        </p:cxnSp>
        <p:pic>
          <p:nvPicPr>
            <p:cNvPr id="333" name="Google Shape;333;g3f943fda256_0_3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9525" y="4105275"/>
              <a:ext cx="76200" cy="381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34" name="Google Shape;334;g3f943fda256_0_35"/>
            <p:cNvSpPr/>
            <p:nvPr/>
          </p:nvSpPr>
          <p:spPr>
            <a:xfrm>
              <a:off x="6762750" y="4143375"/>
              <a:ext cx="1809600" cy="476400"/>
            </a:xfrm>
            <a:prstGeom prst="roundRect">
              <a:avLst>
                <a:gd fmla="val 12000" name="adj"/>
              </a:avLst>
            </a:prstGeom>
            <a:solidFill>
              <a:srgbClr val="F8FAFC"/>
            </a:solidFill>
            <a:ln cap="flat" cmpd="sng" w="14300">
              <a:solidFill>
                <a:srgbClr val="1E3A8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" name="Google Shape;335;g3f943fda256_0_35"/>
            <p:cNvSpPr txBox="1"/>
            <p:nvPr/>
          </p:nvSpPr>
          <p:spPr>
            <a:xfrm>
              <a:off x="6762750" y="4143375"/>
              <a:ext cx="18096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95250" spcFirstLastPara="1" rIns="9525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1E3A8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8. Incident Available for Later Review</a:t>
              </a:r>
              <a:endParaRPr b="1" sz="1000">
                <a:solidFill>
                  <a:srgbClr val="1E3A8A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36" name="Google Shape;336;g3f943fda256_0_35"/>
            <p:cNvSpPr/>
            <p:nvPr/>
          </p:nvSpPr>
          <p:spPr>
            <a:xfrm>
              <a:off x="4476750" y="4905375"/>
              <a:ext cx="4095900" cy="1095300"/>
            </a:xfrm>
            <a:prstGeom prst="roundRect">
              <a:avLst>
                <a:gd fmla="val 6956" name="adj"/>
              </a:avLst>
            </a:prstGeom>
            <a:solidFill>
              <a:srgbClr val="1E3A8A"/>
            </a:solidFill>
            <a:ln cap="flat" cmpd="sng" w="14300">
              <a:solidFill>
                <a:srgbClr val="06B6D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" name="Google Shape;337;g3f943fda256_0_35"/>
            <p:cNvSpPr txBox="1"/>
            <p:nvPr/>
          </p:nvSpPr>
          <p:spPr>
            <a:xfrm>
              <a:off x="4476750" y="4905375"/>
              <a:ext cx="4095900" cy="109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42875" lIns="142875" spcFirstLastPara="1" rIns="142875" wrap="square" tIns="1428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06B6D4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gavel</a:t>
              </a:r>
              <a:r>
                <a:rPr b="1" lang="en-US" sz="1000">
                  <a:solidFill>
                    <a:srgbClr val="06B6D4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Forensic Authority Mandate</a:t>
              </a:r>
              <a:endParaRPr b="1" sz="1000">
                <a:solidFill>
                  <a:srgbClr val="06B6D4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i="1" lang="en-US" sz="1050">
                  <a:solidFill>
                    <a:srgbClr val="E2E8F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Disabling the AI model must not change any forensic result.</a:t>
              </a:r>
              <a:endParaRPr i="1" sz="1050">
                <a:solidFill>
                  <a:srgbClr val="E2E8F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3f943fda256_0_42"/>
          <p:cNvSpPr txBox="1"/>
          <p:nvPr>
            <p:ph type="title"/>
          </p:nvPr>
        </p:nvSpPr>
        <p:spPr>
          <a:xfrm>
            <a:off x="457200" y="1288550"/>
            <a:ext cx="82296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1E3A8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</a:t>
            </a:r>
            <a:endParaRPr b="1" sz="3200">
              <a:solidFill>
                <a:srgbClr val="1E3A8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4" name="Google Shape;344;g3f943fda256_0_42"/>
          <p:cNvSpPr txBox="1"/>
          <p:nvPr>
            <p:ph idx="1" type="body"/>
          </p:nvPr>
        </p:nvSpPr>
        <p:spPr>
          <a:xfrm>
            <a:off x="476175" y="2544925"/>
            <a:ext cx="4381500" cy="4000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-304800" lvl="0" marL="457200" rtl="0" algn="l">
              <a:spcBef>
                <a:spcPts val="36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Times New Roman"/>
              <a:buChar char="●"/>
            </a:pPr>
            <a:r>
              <a:rPr b="1" lang="en-US" sz="1200">
                <a:solidFill>
                  <a:srgbClr val="1E3A8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Canonical Model:</a:t>
            </a:r>
            <a:r>
              <a:rPr lang="en-US" sz="12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Historical and live evidence share one canonical event model.</a:t>
            </a:r>
            <a:endParaRPr sz="1200">
              <a:solidFill>
                <a:srgbClr val="33333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Times New Roman"/>
              <a:buChar char="●"/>
            </a:pPr>
            <a:r>
              <a:rPr b="1" lang="en-US" sz="1200">
                <a:solidFill>
                  <a:srgbClr val="1E3A8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Reproducibility:</a:t>
            </a:r>
            <a:r>
              <a:rPr lang="en-US" sz="12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Deterministic analytics preserve absolute reproducibility.</a:t>
            </a:r>
            <a:endParaRPr sz="1200">
              <a:solidFill>
                <a:srgbClr val="33333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Times New Roman"/>
              <a:buChar char="●"/>
            </a:pPr>
            <a:r>
              <a:rPr b="1" lang="en-US" sz="1200">
                <a:solidFill>
                  <a:srgbClr val="1E3A8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Availability:</a:t>
            </a:r>
            <a:r>
              <a:rPr lang="en-US" sz="12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Live incidents remain available for later forensic investigation.</a:t>
            </a:r>
            <a:endParaRPr sz="1200">
              <a:solidFill>
                <a:srgbClr val="33333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Times New Roman"/>
              <a:buChar char="●"/>
            </a:pPr>
            <a:r>
              <a:rPr b="1" lang="en-US" sz="1200">
                <a:solidFill>
                  <a:srgbClr val="1E3A8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Clarity:</a:t>
            </a:r>
            <a:r>
              <a:rPr lang="en-US" sz="12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Evidence correlation supports clearer incident reconstruction.</a:t>
            </a:r>
            <a:endParaRPr sz="1200">
              <a:solidFill>
                <a:srgbClr val="33333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Times New Roman"/>
              <a:buChar char="●"/>
            </a:pPr>
            <a:r>
              <a:rPr b="1" lang="en-US" sz="1200">
                <a:solidFill>
                  <a:srgbClr val="1E3A8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 Safeguards:</a:t>
            </a:r>
            <a:r>
              <a:rPr lang="en-US" sz="12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AI explains verified results rather than creating forensic findings.</a:t>
            </a:r>
            <a:endParaRPr sz="1200">
              <a:solidFill>
                <a:srgbClr val="33333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Times New Roman"/>
              <a:buChar char="●"/>
            </a:pPr>
            <a:r>
              <a:rPr b="1" lang="en-US" sz="1200">
                <a:solidFill>
                  <a:srgbClr val="1E3A8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Academic Focus:</a:t>
            </a:r>
            <a:r>
              <a:rPr lang="en-US" sz="12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Traceveil is designed as a transparent academic DFIR prototype.</a:t>
            </a:r>
            <a:endParaRPr sz="1200">
              <a:solidFill>
                <a:srgbClr val="33333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5" name="Google Shape;345;g3f943fda256_0_42"/>
          <p:cNvSpPr txBox="1"/>
          <p:nvPr>
            <p:ph idx="12" type="sldNum"/>
          </p:nvPr>
        </p:nvSpPr>
        <p:spPr>
          <a:xfrm>
            <a:off x="6553200" y="6373546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6" name="Google Shape;346;g3f943fda256_0_42"/>
          <p:cNvSpPr txBox="1"/>
          <p:nvPr/>
        </p:nvSpPr>
        <p:spPr>
          <a:xfrm>
            <a:off x="457200" y="1860050"/>
            <a:ext cx="8229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500">
                <a:solidFill>
                  <a:srgbClr val="47556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Traceveil unifies real-time awareness with forensic reconstruction.</a:t>
            </a:r>
            <a:endParaRPr i="1" sz="1500">
              <a:solidFill>
                <a:srgbClr val="47556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347" name="Google Shape;347;g3f943fda256_0_42"/>
          <p:cNvGrpSpPr/>
          <p:nvPr/>
        </p:nvGrpSpPr>
        <p:grpSpPr>
          <a:xfrm>
            <a:off x="5143425" y="2640175"/>
            <a:ext cx="3524400" cy="3000300"/>
            <a:chOff x="5143500" y="2286000"/>
            <a:chExt cx="3524400" cy="3000300"/>
          </a:xfrm>
        </p:grpSpPr>
        <p:sp>
          <p:nvSpPr>
            <p:cNvPr id="348" name="Google Shape;348;g3f943fda256_0_42"/>
            <p:cNvSpPr/>
            <p:nvPr/>
          </p:nvSpPr>
          <p:spPr>
            <a:xfrm>
              <a:off x="5143500" y="2286000"/>
              <a:ext cx="3524400" cy="714300"/>
            </a:xfrm>
            <a:prstGeom prst="roundRect">
              <a:avLst>
                <a:gd fmla="val 10666" name="adj"/>
              </a:avLst>
            </a:prstGeom>
            <a:solidFill>
              <a:srgbClr val="1E3A8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" name="Google Shape;349;g3f943fda256_0_42"/>
            <p:cNvSpPr txBox="1"/>
            <p:nvPr/>
          </p:nvSpPr>
          <p:spPr>
            <a:xfrm>
              <a:off x="5143500" y="2286000"/>
              <a:ext cx="3524400" cy="71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06B6D4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layers</a:t>
              </a:r>
              <a:r>
                <a:rPr b="1" lang="en-US" sz="130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Batch Evidence + Live IoT</a:t>
              </a:r>
              <a:endParaRPr b="1" sz="13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50" name="Google Shape;350;g3f943fda256_0_42"/>
            <p:cNvSpPr txBox="1"/>
            <p:nvPr/>
          </p:nvSpPr>
          <p:spPr>
            <a:xfrm>
              <a:off x="5143500" y="3096260"/>
              <a:ext cx="35244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06B6D4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arrow_downward</a:t>
              </a:r>
              <a:endParaRPr sz="2000">
                <a:solidFill>
                  <a:srgbClr val="06B6D4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351" name="Google Shape;351;g3f943fda256_0_42"/>
            <p:cNvSpPr/>
            <p:nvPr/>
          </p:nvSpPr>
          <p:spPr>
            <a:xfrm>
              <a:off x="5143500" y="3429000"/>
              <a:ext cx="3524400" cy="714300"/>
            </a:xfrm>
            <a:prstGeom prst="roundRect">
              <a:avLst>
                <a:gd fmla="val 10666" name="adj"/>
              </a:avLst>
            </a:prstGeom>
            <a:solidFill>
              <a:srgbClr val="1E3A8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" name="Google Shape;352;g3f943fda256_0_42"/>
            <p:cNvSpPr txBox="1"/>
            <p:nvPr/>
          </p:nvSpPr>
          <p:spPr>
            <a:xfrm>
              <a:off x="5143500" y="3429000"/>
              <a:ext cx="3524400" cy="71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06B6D4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gavel</a:t>
              </a:r>
              <a:r>
                <a:rPr b="1" lang="en-US" sz="130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Deterministic DFIR</a:t>
              </a:r>
              <a:endParaRPr b="1" sz="13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53" name="Google Shape;353;g3f943fda256_0_42"/>
            <p:cNvSpPr txBox="1"/>
            <p:nvPr/>
          </p:nvSpPr>
          <p:spPr>
            <a:xfrm>
              <a:off x="5143500" y="4239260"/>
              <a:ext cx="35244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06B6D4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arrow_downward</a:t>
              </a:r>
              <a:endParaRPr sz="2000">
                <a:solidFill>
                  <a:srgbClr val="06B6D4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354" name="Google Shape;354;g3f943fda256_0_42"/>
            <p:cNvSpPr/>
            <p:nvPr/>
          </p:nvSpPr>
          <p:spPr>
            <a:xfrm>
              <a:off x="5143500" y="4572000"/>
              <a:ext cx="3524400" cy="714300"/>
            </a:xfrm>
            <a:prstGeom prst="roundRect">
              <a:avLst>
                <a:gd fmla="val 10666" name="adj"/>
              </a:avLst>
            </a:prstGeom>
            <a:solidFill>
              <a:srgbClr val="06B6D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" name="Google Shape;355;g3f943fda256_0_42"/>
            <p:cNvSpPr txBox="1"/>
            <p:nvPr/>
          </p:nvSpPr>
          <p:spPr>
            <a:xfrm>
              <a:off x="5143500" y="4572000"/>
              <a:ext cx="3524400" cy="71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1E3A8A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auto_awesome</a:t>
              </a:r>
              <a:r>
                <a:rPr b="1" lang="en-US" sz="1400">
                  <a:solidFill>
                    <a:srgbClr val="1E3A8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Explainable Investigation</a:t>
              </a:r>
              <a:endParaRPr b="1" sz="1400">
                <a:solidFill>
                  <a:srgbClr val="1E3A8A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3f943fda256_0_49"/>
          <p:cNvSpPr txBox="1"/>
          <p:nvPr>
            <p:ph type="title"/>
          </p:nvPr>
        </p:nvSpPr>
        <p:spPr>
          <a:xfrm>
            <a:off x="457200" y="1143000"/>
            <a:ext cx="8229600" cy="762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>
                <a:solidFill>
                  <a:srgbClr val="1E3A8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References &amp; Closing</a:t>
            </a:r>
            <a:endParaRPr b="1" i="0" sz="3200">
              <a:solidFill>
                <a:srgbClr val="1E3A8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2" name="Google Shape;362;g3f943fda256_0_49"/>
          <p:cNvSpPr txBox="1"/>
          <p:nvPr/>
        </p:nvSpPr>
        <p:spPr>
          <a:xfrm>
            <a:off x="457200" y="2000250"/>
            <a:ext cx="4762500" cy="4000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Times New Roman"/>
              <a:buAutoNum type="arabicPeriod"/>
            </a:pPr>
            <a:r>
              <a:rPr b="1" lang="en-US" sz="1100">
                <a:solidFill>
                  <a:srgbClr val="1E3A8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NIST SP 800-86</a:t>
            </a:r>
            <a:r>
              <a:rPr lang="en-US" sz="11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— Guide to Integrating Forensic Techniques into Incident Response</a:t>
            </a:r>
            <a:endParaRPr sz="1100">
              <a:solidFill>
                <a:srgbClr val="33333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spcBef>
                <a:spcPts val="825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Times New Roman"/>
              <a:buAutoNum type="arabicPeriod"/>
            </a:pPr>
            <a:r>
              <a:rPr b="1" lang="en-US" sz="1100">
                <a:solidFill>
                  <a:srgbClr val="1E3A8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NIST SP 800-92</a:t>
            </a:r>
            <a:r>
              <a:rPr lang="en-US" sz="11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— Guide to Computer Security Log Management</a:t>
            </a:r>
            <a:endParaRPr sz="1100">
              <a:solidFill>
                <a:srgbClr val="33333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spcBef>
                <a:spcPts val="825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Times New Roman"/>
              <a:buAutoNum type="arabicPeriod"/>
            </a:pPr>
            <a:r>
              <a:rPr b="1" lang="en-US" sz="1100">
                <a:solidFill>
                  <a:srgbClr val="1E3A8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TON_IoT</a:t>
            </a:r>
            <a:r>
              <a:rPr lang="en-US" sz="11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— IEEE Access, 2020</a:t>
            </a:r>
            <a:endParaRPr sz="1100">
              <a:solidFill>
                <a:srgbClr val="33333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spcBef>
                <a:spcPts val="825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Times New Roman"/>
              <a:buAutoNum type="arabicPeriod"/>
            </a:pPr>
            <a:r>
              <a:rPr b="1" lang="en-US" sz="1100">
                <a:solidFill>
                  <a:srgbClr val="1E3A8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CICIoT2023</a:t>
            </a:r>
            <a:r>
              <a:rPr lang="en-US" sz="11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— Sensors, 2023</a:t>
            </a:r>
            <a:endParaRPr sz="1100">
              <a:solidFill>
                <a:srgbClr val="33333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spcBef>
                <a:spcPts val="825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Times New Roman"/>
              <a:buAutoNum type="arabicPeriod"/>
            </a:pPr>
            <a:r>
              <a:rPr b="1" lang="en-US" sz="1100">
                <a:solidFill>
                  <a:srgbClr val="1E3A8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Microsoft Defender for IoT</a:t>
            </a:r>
            <a:r>
              <a:rPr lang="en-US" sz="11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documentation</a:t>
            </a:r>
            <a:endParaRPr sz="1100">
              <a:solidFill>
                <a:srgbClr val="33333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spcBef>
                <a:spcPts val="825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Times New Roman"/>
              <a:buAutoNum type="arabicPeriod"/>
            </a:pPr>
            <a:r>
              <a:rPr b="1" lang="en-US" sz="1100">
                <a:solidFill>
                  <a:srgbClr val="1E3A8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AWS IoT Device Defender</a:t>
            </a:r>
            <a:r>
              <a:rPr lang="en-US" sz="11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documentation</a:t>
            </a:r>
            <a:endParaRPr sz="1100">
              <a:solidFill>
                <a:srgbClr val="33333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spcBef>
                <a:spcPts val="825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Times New Roman"/>
              <a:buAutoNum type="arabicPeriod"/>
            </a:pPr>
            <a:r>
              <a:rPr b="1" lang="en-US" sz="1100">
                <a:solidFill>
                  <a:srgbClr val="1E3A8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Splunk Enterprise Security</a:t>
            </a:r>
            <a:r>
              <a:rPr lang="en-US" sz="11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documentation</a:t>
            </a:r>
            <a:endParaRPr sz="1100">
              <a:solidFill>
                <a:srgbClr val="33333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spcBef>
                <a:spcPts val="825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Times New Roman"/>
              <a:buAutoNum type="arabicPeriod"/>
            </a:pPr>
            <a:r>
              <a:rPr b="1" lang="en-US" sz="1100">
                <a:solidFill>
                  <a:srgbClr val="1E3A8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IBM QRadar</a:t>
            </a:r>
            <a:r>
              <a:rPr lang="en-US" sz="11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documentation</a:t>
            </a:r>
            <a:endParaRPr sz="1100">
              <a:solidFill>
                <a:srgbClr val="33333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spcBef>
                <a:spcPts val="825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Times New Roman"/>
              <a:buAutoNum type="arabicPeriod"/>
            </a:pPr>
            <a:r>
              <a:rPr b="1" lang="en-US" sz="1100">
                <a:solidFill>
                  <a:srgbClr val="1E3A8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Ollama Structured Outputs</a:t>
            </a:r>
            <a:r>
              <a:rPr lang="en-US" sz="11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documentation</a:t>
            </a:r>
            <a:endParaRPr sz="1100">
              <a:solidFill>
                <a:srgbClr val="33333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3" name="Google Shape;363;g3f943fda256_0_49"/>
          <p:cNvSpPr txBox="1"/>
          <p:nvPr>
            <p:ph idx="12" type="sldNum"/>
          </p:nvPr>
        </p:nvSpPr>
        <p:spPr>
          <a:xfrm>
            <a:off x="6553200" y="6373546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364" name="Google Shape;364;g3f943fda256_0_49"/>
          <p:cNvGrpSpPr/>
          <p:nvPr/>
        </p:nvGrpSpPr>
        <p:grpSpPr>
          <a:xfrm>
            <a:off x="5543550" y="2000250"/>
            <a:ext cx="3143400" cy="4000500"/>
            <a:chOff x="5543550" y="2000250"/>
            <a:chExt cx="3143400" cy="4000500"/>
          </a:xfrm>
        </p:grpSpPr>
        <p:sp>
          <p:nvSpPr>
            <p:cNvPr id="365" name="Google Shape;365;g3f943fda256_0_49"/>
            <p:cNvSpPr/>
            <p:nvPr/>
          </p:nvSpPr>
          <p:spPr>
            <a:xfrm>
              <a:off x="5543550" y="2000250"/>
              <a:ext cx="3143400" cy="4000500"/>
            </a:xfrm>
            <a:prstGeom prst="roundRect">
              <a:avLst>
                <a:gd fmla="val 4848" name="adj"/>
              </a:avLst>
            </a:prstGeom>
            <a:solidFill>
              <a:srgbClr val="1E3A8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" name="Google Shape;366;g3f943fda256_0_49"/>
            <p:cNvSpPr/>
            <p:nvPr/>
          </p:nvSpPr>
          <p:spPr>
            <a:xfrm>
              <a:off x="5543550" y="2000250"/>
              <a:ext cx="3143400" cy="57300"/>
            </a:xfrm>
            <a:prstGeom prst="roundRect">
              <a:avLst>
                <a:gd fmla="val 50000" name="adj"/>
              </a:avLst>
            </a:prstGeom>
            <a:solidFill>
              <a:srgbClr val="06B6D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" name="Google Shape;367;g3f943fda256_0_49"/>
            <p:cNvSpPr txBox="1"/>
            <p:nvPr/>
          </p:nvSpPr>
          <p:spPr>
            <a:xfrm>
              <a:off x="5734050" y="2190750"/>
              <a:ext cx="2762400" cy="3619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800">
                  <a:solidFill>
                    <a:srgbClr val="06B6D4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question_answer</a:t>
              </a:r>
              <a:endParaRPr sz="4800">
                <a:solidFill>
                  <a:srgbClr val="06B6D4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ctr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-US" sz="280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THANK YOU</a:t>
              </a:r>
              <a:endParaRPr b="1" sz="28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ctr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i="1" lang="en-US" sz="1800">
                  <a:solidFill>
                    <a:srgbClr val="E2E8F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Questions?</a:t>
              </a:r>
              <a:endParaRPr i="1" sz="1800">
                <a:solidFill>
                  <a:srgbClr val="E2E8F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PST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Juhi Sawant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02a8b3d-a7c3-4b51-9ec2-92b101e8f764_Enabled">
    <vt:lpwstr>true</vt:lpwstr>
  </property>
  <property fmtid="{D5CDD505-2E9C-101B-9397-08002B2CF9AE}" pid="3" name="MSIP_Label_d02a8b3d-a7c3-4b51-9ec2-92b101e8f764_SetDate">
    <vt:lpwstr>2025-02-24T11:10:33Z</vt:lpwstr>
  </property>
  <property fmtid="{D5CDD505-2E9C-101B-9397-08002B2CF9AE}" pid="4" name="MSIP_Label_d02a8b3d-a7c3-4b51-9ec2-92b101e8f764_Method">
    <vt:lpwstr>Standard</vt:lpwstr>
  </property>
  <property fmtid="{D5CDD505-2E9C-101B-9397-08002B2CF9AE}" pid="5" name="MSIP_Label_d02a8b3d-a7c3-4b51-9ec2-92b101e8f764_Name">
    <vt:lpwstr>d02a8b3d-a7c3-4b51-9ec2-92b101e8f764</vt:lpwstr>
  </property>
  <property fmtid="{D5CDD505-2E9C-101B-9397-08002B2CF9AE}" pid="6" name="MSIP_Label_d02a8b3d-a7c3-4b51-9ec2-92b101e8f764_SiteId">
    <vt:lpwstr>48af3af8-817e-42f2-b1e6-a7407e682b7e</vt:lpwstr>
  </property>
  <property fmtid="{D5CDD505-2E9C-101B-9397-08002B2CF9AE}" pid="7" name="MSIP_Label_d02a8b3d-a7c3-4b51-9ec2-92b101e8f764_ActionId">
    <vt:lpwstr>5b3779c6-a02b-4215-ad63-772fa52109a7</vt:lpwstr>
  </property>
  <property fmtid="{D5CDD505-2E9C-101B-9397-08002B2CF9AE}" pid="8" name="MSIP_Label_d02a8b3d-a7c3-4b51-9ec2-92b101e8f764_ContentBits">
    <vt:lpwstr>0</vt:lpwstr>
  </property>
  <property fmtid="{D5CDD505-2E9C-101B-9397-08002B2CF9AE}" pid="9" name="MSIP_Label_d02a8b3d-a7c3-4b51-9ec2-92b101e8f764_Tag">
    <vt:lpwstr>10, 3, 0, 1</vt:lpwstr>
  </property>
  <property fmtid="{D5CDD505-2E9C-101B-9397-08002B2CF9AE}" pid="10" name="ContentTypeId">
    <vt:lpwstr>0x010100800FBCAE1E20BF4CA2449DEDCA42D798</vt:lpwstr>
  </property>
</Properties>
</file>